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355080" y="0"/>
            <a:ext cx="7315" cy="6858000"/>
          </a:xfrm>
          <a:prstGeom prst="rect">
            <a:avLst/>
          </a:prstGeom>
          <a:solidFill>
            <a:srgbClr val="D2D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364224" y="0"/>
            <a:ext cx="5827471" cy="6858000"/>
          </a:xfrm>
          <a:prstGeom prst="rect">
            <a:avLst/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868680" y="1993392"/>
            <a:ext cx="822960" cy="29260"/>
          </a:xfrm>
          <a:prstGeom prst="rect">
            <a:avLst/>
          </a:prstGeom>
          <a:solidFill>
            <a:srgbClr val="0A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41248" y="2240280"/>
            <a:ext cx="5303520" cy="9144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5000" b="1" i="0">
                <a:solidFill>
                  <a:srgbClr val="101C24"/>
                </a:solidFill>
                <a:latin typeface="Consolas"/>
                <a:ea typeface="Consolas"/>
                <a:cs typeface="Consolas"/>
              </a:rPr>
              <a:t>MHE–NMPC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18688"/>
            <a:ext cx="5029200" cy="10972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5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Eventless Payload-Adaptive NMPC: letting the controller decide for itself whether the parcel is gone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498848"/>
            <a:ext cx="5120640" cy="11887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75000"/>
              </a:lnSpc>
              <a:spcAft>
                <a:spcPts val="200"/>
              </a:spcAft>
            </a:pPr>
            <a:r>
              <a:rPr sz="100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ROS 2 Jazzy · PX4 SITL · Gazebo Harmonic · acados</a:t>
            </a:r>
          </a:p>
          <a:p>
            <a:pPr algn="l">
              <a:lnSpc>
                <a:spcPct val="175000"/>
              </a:lnSpc>
              <a:spcAft>
                <a:spcPts val="200"/>
              </a:spcAft>
            </a:pPr>
            <a:r>
              <a:rPr sz="100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Under review (target ICRA 2027) · all evidence is SITL</a:t>
            </a:r>
          </a:p>
          <a:p>
            <a:pPr algn="l">
              <a:lnSpc>
                <a:spcPct val="175000"/>
              </a:lnSpc>
              <a:spcAft>
                <a:spcPts val="200"/>
              </a:spcAft>
            </a:pPr>
            <a:r>
              <a:rPr sz="100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Numbers and figures from paper/main.pdf (Fig. 1–4, Tables I–V)</a:t>
            </a:r>
          </a:p>
        </p:txBody>
      </p:sp>
      <p:pic>
        <p:nvPicPr>
          <p:cNvPr id="10" name="Picture 9" descr="fig_moment_tru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874519"/>
            <a:ext cx="4983480" cy="21929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20840" y="4297680"/>
            <a:ext cx="4983480" cy="15544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95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Paper Fig. 3</a:t>
            </a:r>
            <a:r>
              <a:rPr sz="95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 — estimated first mass moment ŝ_y against truth (0.15 kg, 2 m/s, n = 11).</a:t>
            </a:r>
          </a:p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95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It rises at grasp, holds through the figure-eight, decays to zero after release — with </a:t>
            </a:r>
            <a:r>
              <a:rPr sz="95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no attach/drop notification ever entering the estimator</a:t>
            </a:r>
            <a:r>
              <a:rPr sz="95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. Truth is reconstructed offline and never reaches 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43000" cy="7315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3000" b="1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1060704"/>
            <a:ext cx="132588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950" b="0" i="0">
                <a:solidFill>
                  <a:srgbClr val="8B9AA4"/>
                </a:solidFill>
                <a:latin typeface="Segoe UI"/>
                <a:ea typeface="Segoe UI"/>
                <a:cs typeface="Segoe UI"/>
              </a:rPr>
              <a:t>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1536192" y="475488"/>
            <a:ext cx="7315" cy="5577840"/>
          </a:xfrm>
          <a:prstGeom prst="rect">
            <a:avLst/>
          </a:prstGeom>
          <a:solidFill>
            <a:srgbClr val="D2D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783080" y="512064"/>
            <a:ext cx="996696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950" b="1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MOTIVATION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804672"/>
            <a:ext cx="9966960" cy="7772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Grasping a parcel breaks the model the controller is using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627632"/>
            <a:ext cx="8571585" cy="6858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5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An NMPC's predictive power rests on one assumption: that it knows its own mass, where its centre of mass sits, and how hard it is to rotate. A grasp changes all three at once.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1783080" y="2487168"/>
            <a:ext cx="3139440" cy="1874519"/>
          </a:xfrm>
          <a:prstGeom prst="rect">
            <a:avLst/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783080" y="2487168"/>
            <a:ext cx="32004" cy="1874519"/>
          </a:xfrm>
          <a:prstGeom prst="rect">
            <a:avLst/>
          </a:prstGeom>
          <a:solidFill>
            <a:srgbClr val="B33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5960" y="2633472"/>
            <a:ext cx="2791968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85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1 / THRUST · OUTER LOOP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2880360"/>
            <a:ext cx="2791968" cy="31089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Hover throttle is wrong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3246120"/>
            <a:ext cx="2791968" cy="1005839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Mass rescales the thrust-to-acceleration map. A biased m biases feed-forward thrust — and the margin set against mg with 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96840" y="2487168"/>
            <a:ext cx="3139440" cy="1874519"/>
          </a:xfrm>
          <a:prstGeom prst="rect">
            <a:avLst/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196840" y="2487168"/>
            <a:ext cx="32004" cy="1874519"/>
          </a:xfrm>
          <a:prstGeom prst="rect">
            <a:avLst/>
          </a:prstGeom>
          <a:solidFill>
            <a:srgbClr val="B33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379720" y="2633472"/>
            <a:ext cx="2791968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85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2 / TORQUE · INNER LOOP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79720" y="2880360"/>
            <a:ext cx="2791968" cy="31089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A constant trim torque appears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79720" y="3246120"/>
            <a:ext cx="2791968" cy="1005839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Thrust no longer passes through the composite CoM: </a:t>
            </a:r>
            <a:r>
              <a:rPr sz="950" b="0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τ ≈ Δr × f</a:t>
            </a: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. Since f ≈ mg is large, </a:t>
            </a:r>
            <a:r>
              <a:rPr sz="10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even a small offset matters</a:t>
            </a: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10600" y="2487168"/>
            <a:ext cx="3139440" cy="1874519"/>
          </a:xfrm>
          <a:prstGeom prst="rect">
            <a:avLst/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610600" y="2487168"/>
            <a:ext cx="32004" cy="1874519"/>
          </a:xfrm>
          <a:prstGeom prst="rect">
            <a:avLst/>
          </a:prstGeom>
          <a:solidFill>
            <a:srgbClr val="B33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793479" y="2633472"/>
            <a:ext cx="2791968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85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3 / INERTIA · INNER LOOP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93479" y="2880360"/>
            <a:ext cx="2791968" cy="31089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Attitude response slows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3479" y="3246120"/>
            <a:ext cx="2791968" cy="1005839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The same torque now yields less angular acceleration — effectively lowering inner-loop bandwidth.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83080" y="4572000"/>
            <a:ext cx="9966960" cy="1170432"/>
          </a:xfrm>
          <a:prstGeom prst="rect">
            <a:avLst/>
          </a:prstGeom>
          <a:solidFill>
            <a:srgbClr val="F9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1783080" y="4572000"/>
            <a:ext cx="32004" cy="1170432"/>
          </a:xfrm>
          <a:prstGeom prst="rect">
            <a:avLst/>
          </a:prstGeom>
          <a:solidFill>
            <a:srgbClr val="B33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965960" y="4690872"/>
            <a:ext cx="9619488" cy="95097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The abstract opens on the premise:</a:t>
            </a: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 “A release command does not guarantee that a payload has physically detached.”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A command is an </a:t>
            </a:r>
            <a:r>
              <a:rPr sz="10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intent</a:t>
            </a: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, not an </a:t>
            </a:r>
            <a:r>
              <a:rPr sz="10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event</a:t>
            </a: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. The gripper may not open; the object may lag; the notification may be lost. A controller that clears its model on that command </a:t>
            </a:r>
            <a:r>
              <a:rPr sz="10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flies a loaded vehicle as if it were empty</a:t>
            </a: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83080" y="6428232"/>
            <a:ext cx="9966960" cy="7315"/>
          </a:xfrm>
          <a:prstGeom prst="rect">
            <a:avLst/>
          </a:prstGeom>
          <a:solidFill>
            <a:srgbClr val="D2D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783080" y="6492240"/>
            <a:ext cx="996696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90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02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43000" cy="7315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3000" b="1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1060704"/>
            <a:ext cx="132588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950" b="0" i="0">
                <a:solidFill>
                  <a:srgbClr val="8B9AA4"/>
                </a:solidFill>
                <a:latin typeface="Segoe UI"/>
                <a:ea typeface="Segoe UI"/>
                <a:cs typeface="Segoe UI"/>
              </a:rPr>
              <a:t>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1536192" y="475488"/>
            <a:ext cx="7315" cy="5577840"/>
          </a:xfrm>
          <a:prstGeom prst="rect">
            <a:avLst/>
          </a:prstGeom>
          <a:solidFill>
            <a:srgbClr val="D2D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783080" y="512064"/>
            <a:ext cx="996696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950" b="1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ARCHITECTURE · FIG.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804672"/>
            <a:ext cx="9966960" cy="7772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The pipeline consumes only motor speeds and odometry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627632"/>
            <a:ext cx="8571585" cy="6858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5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The attach/drop notification is drawn as NOT CONSUMED — not an omission in the figure, but the constraint this work imposes on itself.</a:t>
            </a:r>
          </a:p>
        </p:txBody>
      </p:sp>
      <p:pic>
        <p:nvPicPr>
          <p:cNvPr id="9" name="Picture 8" descr="fig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2286000"/>
            <a:ext cx="8595360" cy="298486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783080" y="5398516"/>
            <a:ext cx="4823460" cy="1024128"/>
          </a:xfrm>
          <a:prstGeom prst="rect">
            <a:avLst/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783080" y="5398516"/>
            <a:ext cx="32004" cy="1024128"/>
          </a:xfrm>
          <a:prstGeom prst="rect">
            <a:avLst/>
          </a:prstGeom>
          <a:solidFill>
            <a:srgbClr val="0A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965960" y="5544820"/>
            <a:ext cx="4475988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85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TWO SOLVERS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5791708"/>
            <a:ext cx="4475988" cy="521207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MHE</a:t>
            </a: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 10 Hz · 16 states · 2.0 s window;   </a:t>
            </a:r>
            <a:r>
              <a:rPr sz="10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NMPC</a:t>
            </a: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 20 Hz · 13 states / 4 inputs · 1.0 s preview.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26580" y="5398516"/>
            <a:ext cx="4823460" cy="1024128"/>
          </a:xfrm>
          <a:prstGeom prst="rect">
            <a:avLst/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926580" y="5398516"/>
            <a:ext cx="32004" cy="1024128"/>
          </a:xfrm>
          <a:prstGeom prst="rect">
            <a:avLst/>
          </a:prstGeom>
          <a:solidFill>
            <a:srgbClr val="0A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109460" y="5544820"/>
            <a:ext cx="4475988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85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ONE ATOMIC FRAME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9460" y="5791708"/>
            <a:ext cx="4475988" cy="521207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950" b="0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{m, s, ΔJ, γ, h, a}</a:t>
            </a: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 on one timestamp, with health bit and solution age — </a:t>
            </a:r>
            <a:r>
              <a:rPr sz="10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never split across topics</a:t>
            </a: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83080" y="6428232"/>
            <a:ext cx="9966960" cy="7315"/>
          </a:xfrm>
          <a:prstGeom prst="rect">
            <a:avLst/>
          </a:prstGeom>
          <a:solidFill>
            <a:srgbClr val="D2D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783080" y="6492240"/>
            <a:ext cx="996696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90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43000" cy="7315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3000" b="1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1060704"/>
            <a:ext cx="132588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950" b="0" i="0">
                <a:solidFill>
                  <a:srgbClr val="8B9AA4"/>
                </a:solidFill>
                <a:latin typeface="Segoe UI"/>
                <a:ea typeface="Segoe UI"/>
                <a:cs typeface="Segoe UI"/>
              </a:rPr>
              <a:t>CONTRIBUTION 1</a:t>
            </a:r>
          </a:p>
        </p:txBody>
      </p:sp>
      <p:sp>
        <p:nvSpPr>
          <p:cNvPr id="5" name="Rectangle 4"/>
          <p:cNvSpPr/>
          <p:nvPr/>
        </p:nvSpPr>
        <p:spPr>
          <a:xfrm>
            <a:off x="1536192" y="475488"/>
            <a:ext cx="7315" cy="5577840"/>
          </a:xfrm>
          <a:prstGeom prst="rect">
            <a:avLst/>
          </a:prstGeom>
          <a:solidFill>
            <a:srgbClr val="D2D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783080" y="512064"/>
            <a:ext cx="996696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950" b="1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WHY THE FIRST MOMENT · §IV-B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804672"/>
            <a:ext cx="9966960" cy="7772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Estimate the first mass moment, not the CoM offset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627632"/>
            <a:ext cx="8571585" cy="6858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5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The most important modelling choice in the paper — and the one most likely to be challenged.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1783080" y="2487168"/>
            <a:ext cx="4800600" cy="2103120"/>
          </a:xfrm>
          <a:prstGeom prst="rect">
            <a:avLst/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783080" y="2487168"/>
            <a:ext cx="32004" cy="2103120"/>
          </a:xfrm>
          <a:prstGeom prst="rect">
            <a:avLst/>
          </a:prstGeom>
          <a:solidFill>
            <a:srgbClr val="B33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5960" y="2633472"/>
            <a:ext cx="4453128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85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WHY c_xy FAILS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2880360"/>
            <a:ext cx="4453128" cy="31089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The CoM offset is undefined at release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3246120"/>
            <a:ext cx="4453128" cy="1234439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Physically </a:t>
            </a:r>
            <a:r>
              <a:rPr sz="950" b="0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s = m_P·r_xy → 0</a:t>
            </a: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, but </a:t>
            </a:r>
            <a:r>
              <a:rPr sz="950" b="0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r_xy</a:t>
            </a: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 is </a:t>
            </a:r>
            <a:r>
              <a:rPr sz="10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0/0</a:t>
            </a: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 as </a:t>
            </a:r>
            <a:r>
              <a:rPr sz="950" b="0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m_P → 0</a:t>
            </a: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.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Not hypothetical: in the mass-only formulation the optimizer could suppress a phantom eccentricity only by driving mass below the bare airframe — </a:t>
            </a:r>
            <a:r>
              <a:rPr sz="1000" b="1" i="0">
                <a:solidFill>
                  <a:srgbClr val="B3321F"/>
                </a:solidFill>
                <a:latin typeface="Segoe UI"/>
                <a:ea typeface="Segoe UI"/>
                <a:cs typeface="Segoe UI"/>
              </a:rPr>
              <a:t>14 of 55</a:t>
            </a: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 post-release samples pinned at the bound.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0" y="2487168"/>
            <a:ext cx="4800600" cy="2103120"/>
          </a:xfrm>
          <a:prstGeom prst="rect">
            <a:avLst/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949440" y="2487168"/>
            <a:ext cx="32004" cy="2103120"/>
          </a:xfrm>
          <a:prstGeom prst="rect">
            <a:avLst/>
          </a:prstGeom>
          <a:solidFill>
            <a:srgbClr val="0A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132320" y="2633472"/>
            <a:ext cx="4453128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85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WHY s WORKS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880360"/>
            <a:ext cx="4453128" cy="31089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Inertial parameters enter linearly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3246120"/>
            <a:ext cx="4453128" cy="1234439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The first moment is the </a:t>
            </a:r>
            <a:r>
              <a:rPr sz="10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standard linear parameterization</a:t>
            </a: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 of rigid-body inertial parameters — classical in manipulator load identification.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It supplies the rotational channel directly, and </a:t>
            </a:r>
            <a:r>
              <a:rPr sz="950" b="0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c_xy = s/m</a:t>
            </a: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 follows </a:t>
            </a:r>
            <a:r>
              <a:rPr sz="10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without knowing the grasp geometry</a:t>
            </a: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83080" y="4791456"/>
            <a:ext cx="9966960" cy="1234440"/>
          </a:xfrm>
          <a:prstGeom prst="rect">
            <a:avLst/>
          </a:prstGeom>
          <a:solidFill>
            <a:srgbClr val="E8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1783080" y="4791456"/>
            <a:ext cx="32004" cy="1234440"/>
          </a:xfrm>
          <a:prstGeom prst="rect">
            <a:avLst/>
          </a:prstGeom>
          <a:solidFill>
            <a:srgbClr val="0A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965960" y="4910328"/>
            <a:ext cx="9619488" cy="10149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The smallest structure, not extra degrees of freedom:</a:t>
            </a: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 the least that represents </a:t>
            </a:r>
            <a:r>
              <a:rPr sz="10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payload existence, trim moment and roll/pitch inertia</a:t>
            </a: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 without measuring attachment geometry.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ΔJ is </a:t>
            </a:r>
            <a:r>
              <a:rPr sz="10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not estimated independently</a:t>
            </a: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 — it follows from m̂ and a weak vertical-arm prior r_z, structurally unobservable from the thrust-moment channel.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83080" y="6428232"/>
            <a:ext cx="9966960" cy="7315"/>
          </a:xfrm>
          <a:prstGeom prst="rect">
            <a:avLst/>
          </a:prstGeom>
          <a:solidFill>
            <a:srgbClr val="D2D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783080" y="6492240"/>
            <a:ext cx="996696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90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04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43000" cy="7315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3000" b="1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1060704"/>
            <a:ext cx="132588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950" b="0" i="0">
                <a:solidFill>
                  <a:srgbClr val="8B9AA4"/>
                </a:solidFill>
                <a:latin typeface="Segoe UI"/>
                <a:ea typeface="Segoe UI"/>
                <a:cs typeface="Segoe UI"/>
              </a:rPr>
              <a:t>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1536192" y="475488"/>
            <a:ext cx="7315" cy="5577840"/>
          </a:xfrm>
          <a:prstGeom prst="rect">
            <a:avLst/>
          </a:prstGeom>
          <a:solidFill>
            <a:srgbClr val="D2D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783080" y="512064"/>
            <a:ext cx="996696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950" b="1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NMPC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804672"/>
            <a:ext cx="9966960" cy="7772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Re-solving one second of future every 50 milliseconds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627632"/>
            <a:ext cx="8571585" cy="6858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5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Unlike a PID it does not react to the present error: it predicts one second ahead, picks an optimal input sequence inside the actuator envelope, and applies only the first step.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783080" y="2487168"/>
          <a:ext cx="5074920" cy="2500884"/>
        </p:xfrm>
        <a:graphic>
          <a:graphicData uri="http://schemas.openxmlformats.org/drawingml/2006/table">
            <a:tbl>
              <a:tblPr firstRow="0" bandRow="0" firstCol="0"/>
              <a:tblGrid>
                <a:gridCol w="1783080"/>
                <a:gridCol w="3291840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850" b="0" i="0">
                          <a:solidFill>
                            <a:srgbClr val="8B9AA4"/>
                          </a:solidFill>
                          <a:latin typeface="Consolas"/>
                          <a:ea typeface="Consolas"/>
                          <a:cs typeface="Consolas"/>
                        </a:rPr>
                        <a:t>ITEM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850" b="0" i="0">
                          <a:solidFill>
                            <a:srgbClr val="8B9AA4"/>
                          </a:solidFill>
                          <a:latin typeface="Consolas"/>
                          <a:ea typeface="Consolas"/>
                          <a:cs typeface="Consolas"/>
                        </a:rPr>
                        <a:t>VALUE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5C6B77"/>
                          </a:solidFill>
                          <a:latin typeface="Segoe UI"/>
                          <a:ea typeface="Segoe UI"/>
                          <a:cs typeface="Segoe UI"/>
                        </a:rPr>
                        <a:t>States / inputs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13 / 4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5C6B77"/>
                          </a:solidFill>
                          <a:latin typeface="Segoe UI"/>
                          <a:ea typeface="Segoe UI"/>
                          <a:cs typeface="Segoe UI"/>
                        </a:rPr>
                        <a:t>Horizon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N=20 × Δt=0.05 s → 1.0 s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5C6B77"/>
                          </a:solidFill>
                          <a:latin typeface="Segoe UI"/>
                          <a:ea typeface="Segoe UI"/>
                          <a:cs typeface="Segoe UI"/>
                        </a:rPr>
                        <a:t>Solver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acados SQP-RTI + HPIPM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5C6B77"/>
                          </a:solidFill>
                          <a:latin typeface="Segoe UI"/>
                          <a:ea typeface="Segoe UI"/>
                          <a:cs typeface="Segoe UI"/>
                        </a:rPr>
                        <a:t>Thrust envelope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T ∈ [1.27, 31.35] N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5C6B77"/>
                          </a:solidFill>
                          <a:latin typeface="Segoe UI"/>
                          <a:ea typeface="Segoe UI"/>
                          <a:cs typeface="Segoe UI"/>
                        </a:rPr>
                        <a:t>Torque envelope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|τx|,|τy| ≤ 0.5 · |τz| ≤ 0.2 N·m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5C6B77"/>
                          </a:solidFill>
                          <a:latin typeface="Segoe UI"/>
                          <a:ea typeface="Segoe UI"/>
                          <a:cs typeface="Segoe UI"/>
                        </a:rPr>
                        <a:t>Solve time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1.3 ms median / 2.2 ms p99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5C6B77"/>
                          </a:solidFill>
                          <a:latin typeface="Segoe UI"/>
                          <a:ea typeface="Segoe UI"/>
                          <a:cs typeface="Segoe UI"/>
                        </a:rPr>
                        <a:t>Share of period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2.6% / 4.4%  (n = 1009)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223760" y="2487168"/>
            <a:ext cx="4526280" cy="1783080"/>
          </a:xfrm>
          <a:prstGeom prst="rect">
            <a:avLst/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7223760" y="2487168"/>
            <a:ext cx="32004" cy="1783080"/>
          </a:xfrm>
          <a:prstGeom prst="rect">
            <a:avLst/>
          </a:prstGeom>
          <a:solidFill>
            <a:srgbClr val="0A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06640" y="2633472"/>
            <a:ext cx="4178808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85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880360"/>
            <a:ext cx="4178808" cy="31089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Bryson's rule + a live hover reference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3246120"/>
            <a:ext cx="4178808" cy="914399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Tolerances 0.1 m / 0.3 m/s / 0.05 / 0.3 rad/s / 2 N.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ū(p) = [mg, c_y·mg, −c_x·mg, 0]</a:t>
            </a: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 tracks the estimate and </a:t>
            </a:r>
            <a:r>
              <a:rPr sz="10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includes the eccentric trim torque</a:t>
            </a: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 — never the bare mass.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0" y="4453128"/>
            <a:ext cx="4526280" cy="1874519"/>
          </a:xfrm>
          <a:prstGeom prst="rect">
            <a:avLst/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7223760" y="4453128"/>
            <a:ext cx="32004" cy="1874519"/>
          </a:xfrm>
          <a:prstGeom prst="rect">
            <a:avLst/>
          </a:prstGeom>
          <a:solidFill>
            <a:srgbClr val="0A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406640" y="4599432"/>
            <a:ext cx="4178808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85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RUNTIME PARAMETERS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4846320"/>
            <a:ext cx="4178808" cy="31089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p = [x_ref, m, ΔJ, c_xy]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5212080"/>
            <a:ext cx="4178808" cy="1005839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Payload information enters as a </a:t>
            </a:r>
            <a:r>
              <a:rPr sz="10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runtime parameter</a:t>
            </a: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 — no code change, no solver regeneration.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m / s / ΔJ each pass a filter and a </a:t>
            </a:r>
            <a:r>
              <a:rPr sz="10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slew limit</a:t>
            </a: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 before every solve.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83080" y="6428232"/>
            <a:ext cx="9966960" cy="7315"/>
          </a:xfrm>
          <a:prstGeom prst="rect">
            <a:avLst/>
          </a:prstGeom>
          <a:solidFill>
            <a:srgbClr val="D2D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783080" y="6492240"/>
            <a:ext cx="996696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90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43000" cy="7315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3000" b="1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1060704"/>
            <a:ext cx="132588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950" b="0" i="0">
                <a:solidFill>
                  <a:srgbClr val="8B9AA4"/>
                </a:solidFill>
                <a:latin typeface="Segoe UI"/>
                <a:ea typeface="Segoe UI"/>
                <a:cs typeface="Segoe UI"/>
              </a:rPr>
              <a:t>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1536192" y="475488"/>
            <a:ext cx="7315" cy="5577840"/>
          </a:xfrm>
          <a:prstGeom prst="rect">
            <a:avLst/>
          </a:prstGeom>
          <a:solidFill>
            <a:srgbClr val="D2D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783080" y="512064"/>
            <a:ext cx="996696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950" b="1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MHE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804672"/>
            <a:ext cx="9966960" cy="7772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Payload parameters become extra states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627632"/>
            <a:ext cx="8571585" cy="6858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5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Over the last two seconds, find the states and parameters that best reconcile model with measurement — not one instant, so time itself suppresses noise.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1783080" y="2487168"/>
            <a:ext cx="5577840" cy="868680"/>
          </a:xfrm>
          <a:prstGeom prst="rect">
            <a:avLst/>
          </a:prstGeom>
          <a:solidFill>
            <a:srgbClr val="EDF0F2"/>
          </a:solidFill>
          <a:ln w="9525">
            <a:solidFill>
              <a:srgbClr val="D2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984248" y="2578608"/>
            <a:ext cx="5175503" cy="68580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400"/>
              </a:spcAft>
            </a:pPr>
            <a:r>
              <a:rPr sz="1100" b="0" i="0">
                <a:solidFill>
                  <a:srgbClr val="101C24"/>
                </a:solidFill>
                <a:latin typeface="Consolas"/>
                <a:ea typeface="Consolas"/>
                <a:cs typeface="Consolas"/>
              </a:rPr>
              <a:t>x_MHE = [ x(13)   m   s_x   s_y ]  ∈  R^16</a:t>
            </a:r>
          </a:p>
          <a:p>
            <a:pPr algn="l">
              <a:lnSpc>
                <a:spcPct val="155000"/>
              </a:lnSpc>
              <a:spcAft>
                <a:spcPts val="400"/>
              </a:spcAft>
            </a:pPr>
            <a:r>
              <a:rPr sz="1100" b="0" i="0">
                <a:solidFill>
                  <a:srgbClr val="101C24"/>
                </a:solidFill>
                <a:latin typeface="Consolas"/>
                <a:ea typeface="Consolas"/>
                <a:cs typeface="Consolas"/>
              </a:rPr>
              <a:t>ṁ = 0, ṡ = 0 in-window    N=20 × Δt=0.1 s → 2.0 s @ 10 Hz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83080" y="3511296"/>
            <a:ext cx="5577840" cy="2176272"/>
          </a:xfrm>
          <a:prstGeom prst="rect">
            <a:avLst/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1783080" y="3511296"/>
            <a:ext cx="32004" cy="2176272"/>
          </a:xfrm>
          <a:prstGeom prst="rect">
            <a:avLst/>
          </a:prstGeom>
          <a:solidFill>
            <a:srgbClr val="0A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965960" y="3657600"/>
            <a:ext cx="5230368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85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WEIGHTS ARE A STATEMENT · W_w ≫ W_y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3904487"/>
            <a:ext cx="5230368" cy="31089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Deliberately trust the dynamics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4270248"/>
            <a:ext cx="5230368" cy="130759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Process-noise weights </a:t>
            </a:r>
            <a:r>
              <a:rPr sz="950" b="0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diag(1e4·I6, 1e5·I4, 1e3·I3)</a:t>
            </a: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 are far tighter than the measurement weights.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The meaning: </a:t>
            </a:r>
            <a:r>
              <a:rPr sz="10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apart from the payload parameters, the model is right</a:t>
            </a: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.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The optimizer must then explain the observed acceleration by moving m and s — it cannot quietly charge the mismatch to process noise.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26679" y="2487168"/>
            <a:ext cx="4023360" cy="1207008"/>
          </a:xfrm>
          <a:prstGeom prst="rect">
            <a:avLst/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7726679" y="2487168"/>
            <a:ext cx="32004" cy="1207008"/>
          </a:xfrm>
          <a:prstGeom prst="rect">
            <a:avLst/>
          </a:prstGeom>
          <a:solidFill>
            <a:srgbClr val="0A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909559" y="2633472"/>
            <a:ext cx="3675888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85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AN ARRIVAL COST THAT KNOWS NOTHING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59" y="2880360"/>
            <a:ext cx="3675888" cy="704087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W_0 is nearly uninformative — σ ≈ 3.2 kg in m, σ = 0.1 kg·m in s. A strong prior would make the estimate an echo of itself.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26679" y="3858768"/>
            <a:ext cx="4023360" cy="1783080"/>
          </a:xfrm>
          <a:prstGeom prst="rect">
            <a:avLst/>
          </a:prstGeom>
          <a:solidFill>
            <a:srgbClr val="F9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7726679" y="3858768"/>
            <a:ext cx="32004" cy="1783080"/>
          </a:xfrm>
          <a:prstGeom prst="rect">
            <a:avLst/>
          </a:prstGeom>
          <a:solidFill>
            <a:srgbClr val="B33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909559" y="3977640"/>
            <a:ext cx="3675888" cy="156362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1" i="0">
                <a:solidFill>
                  <a:srgbClr val="B3321F"/>
                </a:solidFill>
                <a:latin typeface="Segoe UI"/>
                <a:ea typeface="Segoe UI"/>
                <a:cs typeface="Segoe UI"/>
              </a:rPr>
              <a:t>State the timing honestly:</a:t>
            </a: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9.2 ms</a:t>
            </a: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 median, 24.6 ms p90, </a:t>
            </a:r>
            <a:r>
              <a:rPr sz="10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59.2 ms</a:t>
            </a: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 p99, 72.8 ms max — against a 100 ms period.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It meets the deadline in simulation, but the </a:t>
            </a:r>
            <a:r>
              <a:rPr sz="10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tail margin is narrow</a:t>
            </a: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 (≈7× the mass-only estimator), so the paper makes </a:t>
            </a:r>
            <a:r>
              <a:rPr sz="10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no onboard-headroom claim</a:t>
            </a: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83080" y="6428232"/>
            <a:ext cx="9966960" cy="7315"/>
          </a:xfrm>
          <a:prstGeom prst="rect">
            <a:avLst/>
          </a:prstGeom>
          <a:solidFill>
            <a:srgbClr val="D2D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783080" y="6492240"/>
            <a:ext cx="996696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90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43000" cy="7315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3000" b="1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1060704"/>
            <a:ext cx="132588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950" b="0" i="0">
                <a:solidFill>
                  <a:srgbClr val="8B9AA4"/>
                </a:solidFill>
                <a:latin typeface="Segoe UI"/>
                <a:ea typeface="Segoe UI"/>
                <a:cs typeface="Segoe UI"/>
              </a:rPr>
              <a:t>CONTRIBUTION 2</a:t>
            </a:r>
          </a:p>
        </p:txBody>
      </p:sp>
      <p:sp>
        <p:nvSpPr>
          <p:cNvPr id="5" name="Rectangle 4"/>
          <p:cNvSpPr/>
          <p:nvPr/>
        </p:nvSpPr>
        <p:spPr>
          <a:xfrm>
            <a:off x="1536192" y="475488"/>
            <a:ext cx="7315" cy="5577840"/>
          </a:xfrm>
          <a:prstGeom prst="rect">
            <a:avLst/>
          </a:prstGeom>
          <a:solidFill>
            <a:srgbClr val="D2D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783080" y="512064"/>
            <a:ext cx="996696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950" b="1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ESTIMATE-INDEPENDENT PROXY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804672"/>
            <a:ext cx="9966960" cy="7772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Never feed the controller's own thrust command back 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627632"/>
            <a:ext cx="8571585" cy="6858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5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The MHE needs a known input force. The nearest source is the NMPC's own command — and that closes an estimator–controller loop.</a:t>
            </a:r>
          </a:p>
        </p:txBody>
      </p:sp>
      <p:sp>
        <p:nvSpPr>
          <p:cNvPr id="9" name="Rectangle 8"/>
          <p:cNvSpPr/>
          <p:nvPr/>
        </p:nvSpPr>
        <p:spPr>
          <a:xfrm>
            <a:off x="1783080" y="2487168"/>
            <a:ext cx="4800600" cy="2514600"/>
          </a:xfrm>
          <a:prstGeom prst="rect">
            <a:avLst/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783080" y="2487168"/>
            <a:ext cx="32004" cy="2514600"/>
          </a:xfrm>
          <a:prstGeom prst="rect">
            <a:avLst/>
          </a:prstGeom>
          <a:solidFill>
            <a:srgbClr val="B33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5960" y="2633472"/>
            <a:ext cx="4453128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85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THE TRAP · A SELF-CONSISTENT BLIND SPOT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2880360"/>
            <a:ext cx="4453128" cy="31089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The command comes from m̂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3246120"/>
            <a:ext cx="4453128" cy="16459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The cost anchors T near </a:t>
            </a:r>
            <a:r>
              <a:rPr sz="950" b="0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m̂·g</a:t>
            </a: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. Once m̂ is wrong, the commanded thrust is no longer the force the vehicle feels.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Worse: </a:t>
            </a:r>
            <a:r>
              <a:rPr sz="10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inversion error, saturation and motor lag between command and rotor are invisible to the estimator</a:t>
            </a: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. A mass error can persist self-consistently instead of showing up as a residual.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0" y="2487168"/>
            <a:ext cx="4800600" cy="2514600"/>
          </a:xfrm>
          <a:prstGeom prst="rect">
            <a:avLst/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949440" y="2487168"/>
            <a:ext cx="32004" cy="2514600"/>
          </a:xfrm>
          <a:prstGeom prst="rect">
            <a:avLst/>
          </a:prstGeom>
          <a:solidFill>
            <a:srgbClr val="0A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132320" y="2633472"/>
            <a:ext cx="4453128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85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THE FIX · SAMPLE DOWNSTREAM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880360"/>
            <a:ext cx="4453128" cy="31089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Reconstruct from rotor speeds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3246120"/>
            <a:ext cx="4453128" cy="16459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950" b="0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T_phys = k·Σωᵢ²</a:t>
            </a: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   and   </a:t>
            </a:r>
            <a:r>
              <a:rPr sz="950" b="0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τ_phys = Σ rᵢ × Fᵢ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Measured rotor speeds, downstream of the real nonlinear mapping, </a:t>
            </a:r>
            <a:r>
              <a:rPr sz="10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not computed from m̂</a:t>
            </a: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.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Detail: rotor messages are far faster than the MHE period, so the window averages </a:t>
            </a:r>
            <a:r>
              <a:rPr sz="10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per-rotor thrust Fᵢ</a:t>
            </a: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 — never ωᵢ before squaring.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83080" y="5175504"/>
            <a:ext cx="9966960" cy="86868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1783080" y="5175504"/>
            <a:ext cx="32004" cy="868680"/>
          </a:xfrm>
          <a:prstGeom prst="rect">
            <a:avLst/>
          </a:prstGeom>
          <a:solidFill>
            <a:srgbClr val="A6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965960" y="5294376"/>
            <a:ext cx="9619488" cy="64922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What it does depend on:</a:t>
            </a: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 a calibrated k, which loses validity under large induced inflow in fast translation — a term we do not model. Slide 15 prices it: </a:t>
            </a:r>
            <a:r>
              <a:rPr sz="10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a ±5% error defeats the interface in both directions</a:t>
            </a: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83080" y="6428232"/>
            <a:ext cx="9966960" cy="7315"/>
          </a:xfrm>
          <a:prstGeom prst="rect">
            <a:avLst/>
          </a:prstGeom>
          <a:solidFill>
            <a:srgbClr val="D2D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783080" y="6492240"/>
            <a:ext cx="996696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90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07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43000" cy="7315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3000" b="1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1060704"/>
            <a:ext cx="132588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950" b="0" i="0">
                <a:solidFill>
                  <a:srgbClr val="8B9AA4"/>
                </a:solidFill>
                <a:latin typeface="Segoe UI"/>
                <a:ea typeface="Segoe UI"/>
                <a:cs typeface="Segoe UI"/>
              </a:rPr>
              <a:t>CONTRIBUTION 3</a:t>
            </a:r>
          </a:p>
        </p:txBody>
      </p:sp>
      <p:sp>
        <p:nvSpPr>
          <p:cNvPr id="5" name="Rectangle 4"/>
          <p:cNvSpPr/>
          <p:nvPr/>
        </p:nvSpPr>
        <p:spPr>
          <a:xfrm>
            <a:off x="1536192" y="475488"/>
            <a:ext cx="7315" cy="5577840"/>
          </a:xfrm>
          <a:prstGeom prst="rect">
            <a:avLst/>
          </a:prstGeom>
          <a:solidFill>
            <a:srgbClr val="D2D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783080" y="512064"/>
            <a:ext cx="996696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950" b="1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RELEASE SEMANTICS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804672"/>
            <a:ext cx="9966960" cy="7772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Issuing the release command is not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627632"/>
            <a:ext cx="8571585" cy="6858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5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The controller clears its payload model through one route only: confirmation — no-payload confidence γ &gt; 0.90 held for 1.0 s on healthy, fresh frames.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783080" y="2487168"/>
            <a:ext cx="9966960" cy="914400"/>
          </a:xfrm>
          <a:prstGeom prst="rect">
            <a:avLst/>
          </a:prstGeom>
          <a:solidFill>
            <a:srgbClr val="EDF0F2"/>
          </a:solidFill>
          <a:ln w="9525">
            <a:solidFill>
              <a:srgbClr val="D2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984248" y="2578608"/>
            <a:ext cx="9564624" cy="7315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400"/>
              </a:spcAft>
            </a:pPr>
            <a:r>
              <a:rPr sz="1100" b="0" i="0">
                <a:solidFill>
                  <a:srgbClr val="101C24"/>
                </a:solidFill>
                <a:latin typeface="Consolas"/>
                <a:ea typeface="Consolas"/>
                <a:cs typeface="Consolas"/>
              </a:rPr>
              <a:t>γ  =  empty-score(mass)  ×  empty-score(first moment)  ×  empty-score(inertia)</a:t>
            </a:r>
          </a:p>
          <a:p>
            <a:pPr algn="l">
              <a:lnSpc>
                <a:spcPct val="155000"/>
              </a:lnSpc>
              <a:spcAft>
                <a:spcPts val="400"/>
              </a:spcAft>
            </a:pPr>
            <a:r>
              <a:rPr sz="1100" b="0" i="0">
                <a:solidFill>
                  <a:srgbClr val="101C24"/>
                </a:solidFill>
                <a:latin typeface="Consolas"/>
                <a:ea typeface="Consolas"/>
                <a:cs typeface="Consolas"/>
              </a:rPr>
              <a:t>→ a nonzero first moment alone vetoes a false EMPTY, even with mass on its bound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83080" y="3566160"/>
            <a:ext cx="4800600" cy="1874519"/>
          </a:xfrm>
          <a:prstGeom prst="rect">
            <a:avLst/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1783080" y="3566160"/>
            <a:ext cx="32004" cy="1874519"/>
          </a:xfrm>
          <a:prstGeom prst="rect">
            <a:avLst/>
          </a:prstGeom>
          <a:solidFill>
            <a:srgbClr val="0A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965960" y="3712464"/>
            <a:ext cx="4453128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85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WHEN EVIDENCE IS MISSING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3959352"/>
            <a:ext cx="4453128" cy="31089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Enter UNRESOLVED — do not guess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4325112"/>
            <a:ext cx="4453128" cy="1005839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12 s timeout → declare UNRESOLVED → 3 s smooth brake to hover, then gather evidence in low-dynamic flight.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A timeout is treated as unknown, never as proof of an empty vehicle.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49440" y="3566160"/>
            <a:ext cx="4800600" cy="1874519"/>
          </a:xfrm>
          <a:prstGeom prst="rect">
            <a:avLst/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949440" y="3566160"/>
            <a:ext cx="32004" cy="1874519"/>
          </a:xfrm>
          <a:prstGeom prst="rect">
            <a:avLst/>
          </a:prstGeom>
          <a:solidFill>
            <a:srgbClr val="B33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132320" y="3712464"/>
            <a:ext cx="4453128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85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THE FAST PATH WE DELETED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959352"/>
            <a:ext cx="4453128" cy="31089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It caused real premature releases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4325112"/>
            <a:ext cx="4453128" cy="1005839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“Residual + quantity-empty”, without moment evidence, released </a:t>
            </a:r>
            <a:r>
              <a:rPr sz="1000" b="1" i="0">
                <a:solidFill>
                  <a:srgbClr val="B3321F"/>
                </a:solidFill>
                <a:latin typeface="Segoe UI"/>
                <a:ea typeface="Segoe UI"/>
                <a:cs typeface="Segoe UI"/>
              </a:rPr>
              <a:t>early in 3 of 9 flights</a:t>
            </a: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 during a 4 m/s figure-eight.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Cause: under aggressive flight m̂ sits on its lower bound for long stretches, so the quantity channel reads empty </a:t>
            </a:r>
            <a:r>
              <a:rPr sz="10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persistently</a:t>
            </a: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83080" y="5614416"/>
            <a:ext cx="9966960" cy="713232"/>
          </a:xfrm>
          <a:prstGeom prst="rect">
            <a:avLst/>
          </a:prstGeom>
          <a:solidFill>
            <a:srgbClr val="F9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1783080" y="5614416"/>
            <a:ext cx="32004" cy="713232"/>
          </a:xfrm>
          <a:prstGeom prst="rect">
            <a:avLst/>
          </a:prstGeom>
          <a:solidFill>
            <a:srgbClr val="B33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965960" y="5733288"/>
            <a:ext cx="9619488" cy="49377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A recorded figure-eight transient reached −1.69 N — larger than the −1.47 N step of a real release of the smallest payload.</a:t>
            </a: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 Amplitude alone cannot separate manoeuvre from detachment.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83080" y="6428232"/>
            <a:ext cx="9966960" cy="7315"/>
          </a:xfrm>
          <a:prstGeom prst="rect">
            <a:avLst/>
          </a:prstGeom>
          <a:solidFill>
            <a:srgbClr val="D2D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783080" y="6492240"/>
            <a:ext cx="996696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90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08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43000" cy="7315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3000" b="1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1060704"/>
            <a:ext cx="132588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950" b="0" i="0">
                <a:solidFill>
                  <a:srgbClr val="8B9AA4"/>
                </a:solidFill>
                <a:latin typeface="Segoe UI"/>
                <a:ea typeface="Segoe UI"/>
                <a:cs typeface="Segoe UI"/>
              </a:rPr>
              <a:t>RIGOUR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1536192" y="475488"/>
            <a:ext cx="7315" cy="5577840"/>
          </a:xfrm>
          <a:prstGeom prst="rect">
            <a:avLst/>
          </a:prstGeom>
          <a:solidFill>
            <a:srgbClr val="D2D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783080" y="512064"/>
            <a:ext cx="996696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950" b="1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TABLE I · PROVENANCE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804672"/>
            <a:ext cx="9966960" cy="7772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Where every threshold came from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627632"/>
            <a:ext cx="8571585" cy="6858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5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The paper spends a whole table on this, and states plainly: all values were fixed in code before the final campaign and were not retuned on it.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783080" y="2487168"/>
          <a:ext cx="9966960" cy="2706624"/>
        </p:xfrm>
        <a:graphic>
          <a:graphicData uri="http://schemas.openxmlformats.org/drawingml/2006/table">
            <a:tbl>
              <a:tblPr firstRow="0" bandRow="0" firstCol="0"/>
              <a:tblGrid>
                <a:gridCol w="2331720"/>
                <a:gridCol w="1920240"/>
                <a:gridCol w="5715000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850" b="0" i="0">
                          <a:solidFill>
                            <a:srgbClr val="8B9AA4"/>
                          </a:solidFill>
                          <a:latin typeface="Consolas"/>
                          <a:ea typeface="Consolas"/>
                          <a:cs typeface="Consolas"/>
                        </a:rPr>
                        <a:t>THRESHOLD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850" b="0" i="0">
                          <a:solidFill>
                            <a:srgbClr val="8B9AA4"/>
                          </a:solidFill>
                          <a:latin typeface="Consolas"/>
                          <a:ea typeface="Consolas"/>
                          <a:cs typeface="Consolas"/>
                        </a:rPr>
                        <a:t>VALUE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850" b="0" i="0">
                          <a:solidFill>
                            <a:srgbClr val="8B9AA4"/>
                          </a:solidFill>
                          <a:latin typeface="Consolas"/>
                          <a:ea typeface="Consolas"/>
                          <a:cs typeface="Consolas"/>
                        </a:rPr>
                        <a:t>PROVENANCE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Segoe UI"/>
                          <a:ea typeface="Segoe UI"/>
                          <a:cs typeface="Segoe UI"/>
                        </a:rPr>
                        <a:t>Moment-collapse ratio ρ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0.30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1" i="0">
                          <a:solidFill>
                            <a:srgbClr val="101C24"/>
                          </a:solidFill>
                          <a:latin typeface="Consolas"/>
                          <a:ea typeface="Consolas"/>
                          <a:cs typeface="Consolas"/>
                        </a:rPr>
                        <a:t>leave-one-out CV on 59 earlier flights; every fold chose 0.30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Segoe UI"/>
                          <a:ea typeface="Segoe UI"/>
                          <a:cs typeface="Segoe UI"/>
                        </a:rPr>
                        <a:t>Residual floor / persist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0.9 N; 2 or 4 frames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below the 1.47 N weight of the smallest payload; recorded figure-eight excursions lasted ≤3 frames, the release step 4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Segoe UI"/>
                          <a:ea typeface="Segoe UI"/>
                          <a:cs typeface="Segoe UI"/>
                        </a:rPr>
                        <a:t>Slow-path persistence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5 frames (0.5 s)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engineering choice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Segoe UI"/>
                          <a:ea typeface="Segoe UI"/>
                          <a:cs typeface="Segoe UI"/>
                        </a:rPr>
                        <a:t>Mass-domain release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m_P &lt; 0.030 kg, 20 fr.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between the loaded minimum (0.079 kg) and post-release maximum (0.007 kg) of earlier flights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Segoe UI"/>
                          <a:ea typeface="Segoe UI"/>
                          <a:cs typeface="Segoe UI"/>
                        </a:rPr>
                        <a:t>No-payload confidence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0.90 for 1.0 s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engineering choice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Segoe UI"/>
                          <a:ea typeface="Segoe UI"/>
                          <a:cs typeface="Segoe UI"/>
                        </a:rPr>
                        <a:t>UNRESOLVED timeout / brake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12 s / 3 s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engineering choice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1783080" y="5184648"/>
            <a:ext cx="9966960" cy="960120"/>
          </a:xfrm>
          <a:prstGeom prst="rect">
            <a:avLst/>
          </a:prstGeom>
          <a:solidFill>
            <a:srgbClr val="E8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783080" y="5184648"/>
            <a:ext cx="32004" cy="960120"/>
          </a:xfrm>
          <a:prstGeom prst="rect">
            <a:avLst/>
          </a:prstGeom>
          <a:solidFill>
            <a:srgbClr val="0A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965960" y="5303520"/>
            <a:ext cx="9619488" cy="74066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Only ρ and the residual floor were selected against data — and against earlier flights disjoint from the reported campaign.</a:t>
            </a: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 The rest are engineering choices, and the paper says outright that their closed-loop sensitivity was not swept.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The point is not the numbers: </a:t>
            </a:r>
            <a:r>
              <a:rPr sz="10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the provenance of a threshold is itself something to be audited</a:t>
            </a: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83080" y="6428232"/>
            <a:ext cx="9966960" cy="7315"/>
          </a:xfrm>
          <a:prstGeom prst="rect">
            <a:avLst/>
          </a:prstGeom>
          <a:solidFill>
            <a:srgbClr val="D2D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783080" y="6492240"/>
            <a:ext cx="996696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90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09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43000" cy="7315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3000" b="1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1060704"/>
            <a:ext cx="132588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950" b="0" i="0">
                <a:solidFill>
                  <a:srgbClr val="8B9AA4"/>
                </a:solidFill>
                <a:latin typeface="Segoe UI"/>
                <a:ea typeface="Segoe UI"/>
                <a:cs typeface="Segoe UI"/>
              </a:rPr>
              <a:t>EXPERIMENTS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536192" y="475488"/>
            <a:ext cx="7315" cy="5577840"/>
          </a:xfrm>
          <a:prstGeom prst="rect">
            <a:avLst/>
          </a:prstGeom>
          <a:solidFill>
            <a:srgbClr val="D2D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783080" y="512064"/>
            <a:ext cx="996696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950" b="1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EXPERIMENT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804672"/>
            <a:ext cx="9966960" cy="7772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One mission, four ways for the payload to be gone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627632"/>
            <a:ext cx="8571585" cy="6858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5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Showing that a normal release is recognised proves little. The real test is a mismatch between command and physics — the only place “eventless” can be falsified.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487168"/>
            <a:ext cx="2299716" cy="29260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1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CASE 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83080" y="2798064"/>
            <a:ext cx="2299716" cy="20116"/>
          </a:xfrm>
          <a:prstGeom prst="rect">
            <a:avLst/>
          </a:prstGeom>
          <a:solidFill>
            <a:srgbClr val="0A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783080" y="2926080"/>
            <a:ext cx="2299716" cy="34747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5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Nominal release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346704"/>
            <a:ext cx="2299716" cy="14630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95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Approach → grasp → lift → figure-eight → phase-triggered release.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8828" y="2487168"/>
            <a:ext cx="2299716" cy="29260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1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CASE 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38828" y="2798064"/>
            <a:ext cx="2299716" cy="20116"/>
          </a:xfrm>
          <a:prstGeom prst="rect">
            <a:avLst/>
          </a:prstGeom>
          <a:solidFill>
            <a:srgbClr val="0A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338828" y="2926080"/>
            <a:ext cx="2299716" cy="34747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5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Delayed detachment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8828" y="3346704"/>
            <a:ext cx="2299716" cy="14630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95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The joint is held a median </a:t>
            </a:r>
            <a:r>
              <a:rPr sz="95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4.01 s</a:t>
            </a:r>
            <a:r>
              <a:rPr sz="95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 past the command. Anything clearing on the command must be early.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94576" y="2487168"/>
            <a:ext cx="2299716" cy="29260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1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CASE 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94576" y="2798064"/>
            <a:ext cx="2299716" cy="20116"/>
          </a:xfrm>
          <a:prstGeom prst="rect">
            <a:avLst/>
          </a:prstGeom>
          <a:solidFill>
            <a:srgbClr val="0A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894576" y="2926080"/>
            <a:ext cx="2299716" cy="34747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5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Unsignaled 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94576" y="3346704"/>
            <a:ext cx="2299716" cy="14630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95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The payload goes, but </a:t>
            </a:r>
            <a:r>
              <a:rPr sz="95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no command reaches the controller</a:t>
            </a:r>
            <a:r>
              <a:rPr sz="95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. A command-armed confirmer cannot see this.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50324" y="2487168"/>
            <a:ext cx="2299716" cy="29260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1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CASE 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50324" y="2798064"/>
            <a:ext cx="2299716" cy="20116"/>
          </a:xfrm>
          <a:prstGeom prst="rect">
            <a:avLst/>
          </a:prstGeom>
          <a:solidFill>
            <a:srgbClr val="0A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450324" y="2926080"/>
            <a:ext cx="2299716" cy="34747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5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Partial loss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50324" y="3346704"/>
            <a:ext cx="2299716" cy="14630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95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Four 0.05 kg boxes, three detached one at a time, unsignaled. Tests multi-step tracking, not a binary call.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83080" y="4956048"/>
            <a:ext cx="9966960" cy="1234440"/>
          </a:xfrm>
          <a:prstGeom prst="rect">
            <a:avLst/>
          </a:prstGeom>
          <a:solidFill>
            <a:srgbClr val="E8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1783080" y="4956048"/>
            <a:ext cx="32004" cy="1234440"/>
          </a:xfrm>
          <a:prstGeom prst="rect">
            <a:avLst/>
          </a:prstGeom>
          <a:solidFill>
            <a:srgbClr val="0A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965960" y="5074920"/>
            <a:ext cx="9619488" cy="10149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Pre-registered and reported in full:</a:t>
            </a: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 the paired design was fixed before the comparison, not chosen after it; the paper reports </a:t>
            </a:r>
            <a:r>
              <a:rPr sz="10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every attempt</a:t>
            </a: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 (84), the confirmation path each flight took, and the failures at the actuator limit.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Safety is measured separately and at scale:</a:t>
            </a: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 across 209 loaded flights (3.7 h), releases declared before any command or injected loss = </a:t>
            </a:r>
            <a:r>
              <a:rPr sz="10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0</a:t>
            </a: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 (one-sided 95% upper bound 1.4% per flight).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83080" y="6428232"/>
            <a:ext cx="9966960" cy="7315"/>
          </a:xfrm>
          <a:prstGeom prst="rect">
            <a:avLst/>
          </a:prstGeom>
          <a:solidFill>
            <a:srgbClr val="D2D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783080" y="6492240"/>
            <a:ext cx="996696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90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43000" cy="7315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3000" b="1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1060704"/>
            <a:ext cx="132588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950" b="0" i="0">
                <a:solidFill>
                  <a:srgbClr val="8B9AA4"/>
                </a:solidFill>
                <a:latin typeface="Segoe UI"/>
                <a:ea typeface="Segoe UI"/>
                <a:cs typeface="Segoe UI"/>
              </a:rPr>
              <a:t>EXPERIMENTS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536192" y="475488"/>
            <a:ext cx="7315" cy="5577840"/>
          </a:xfrm>
          <a:prstGeom prst="rect">
            <a:avLst/>
          </a:prstGeom>
          <a:solidFill>
            <a:srgbClr val="D2D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783080" y="512064"/>
            <a:ext cx="996696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950" b="1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TABLES III + IV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804672"/>
            <a:ext cx="9966960" cy="7772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32 of 36 — and what that does not establish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627632"/>
            <a:ext cx="8571585" cy="6858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5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Every flight in which the payload physically attached and the vehicle survived to the release command is counted.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783080" y="2487168"/>
          <a:ext cx="5806440" cy="1609344"/>
        </p:xfrm>
        <a:graphic>
          <a:graphicData uri="http://schemas.openxmlformats.org/drawingml/2006/table">
            <a:tbl>
              <a:tblPr firstRow="0" bandRow="0" firstCol="0"/>
              <a:tblGrid>
                <a:gridCol w="1600200"/>
                <a:gridCol w="502920"/>
                <a:gridCol w="914400"/>
                <a:gridCol w="1463040"/>
                <a:gridCol w="1325880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850" b="0" i="0">
                          <a:solidFill>
                            <a:srgbClr val="8B9AA4"/>
                          </a:solidFill>
                          <a:latin typeface="Consolas"/>
                          <a:ea typeface="Consolas"/>
                          <a:cs typeface="Consolas"/>
                        </a:rPr>
                        <a:t>CONDITION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850" b="0" i="0">
                          <a:solidFill>
                            <a:srgbClr val="8B9AA4"/>
                          </a:solidFill>
                          <a:latin typeface="Consolas"/>
                          <a:ea typeface="Consolas"/>
                          <a:cs typeface="Consolas"/>
                        </a:rPr>
                        <a:t>n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850" b="0" i="0">
                          <a:solidFill>
                            <a:srgbClr val="8B9AA4"/>
                          </a:solidFill>
                          <a:latin typeface="Consolas"/>
                          <a:ea typeface="Consolas"/>
                          <a:cs typeface="Consolas"/>
                        </a:rPr>
                        <a:t>COMPL.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850" b="0" i="0">
                          <a:solidFill>
                            <a:srgbClr val="8B9AA4"/>
                          </a:solidFill>
                          <a:latin typeface="Consolas"/>
                          <a:ea typeface="Consolas"/>
                          <a:cs typeface="Consolas"/>
                        </a:rPr>
                        <a:t>IN-MANOEUVRE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850" b="0" i="0">
                          <a:solidFill>
                            <a:srgbClr val="8B9AA4"/>
                          </a:solidFill>
                          <a:latin typeface="Consolas"/>
                          <a:ea typeface="Consolas"/>
                          <a:cs typeface="Consolas"/>
                        </a:rPr>
                        <a:t>VIA BRAKE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Segoe UI"/>
                          <a:ea typeface="Segoe UI"/>
                          <a:cs typeface="Segoe UI"/>
                        </a:rPr>
                        <a:t>0.15 kg, 4 m/s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10/11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2.90 s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16.60 s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Segoe UI"/>
                          <a:ea typeface="Segoe UI"/>
                          <a:cs typeface="Segoe UI"/>
                        </a:rPr>
                        <a:t>0.30 kg, 4 m/s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10/13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8.95 s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16.40 s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Segoe UI"/>
                          <a:ea typeface="Segoe UI"/>
                          <a:cs typeface="Segoe UI"/>
                        </a:rPr>
                        <a:t>0.15 kg, 2 m/s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12/12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3.31 s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16.48 s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1" i="0">
                          <a:solidFill>
                            <a:srgbClr val="101C24"/>
                          </a:solidFill>
                          <a:latin typeface="Segoe UI"/>
                          <a:ea typeface="Segoe UI"/>
                          <a:cs typeface="Segoe UI"/>
                        </a:rPr>
                        <a:t>pooled</a:t>
                      </a:r>
                    </a:p>
                  </a:txBody>
                  <a:tcPr marL="82296" marR="54864" marT="27432" marB="27432" anchor="ctr">
                    <a:solidFill>
                      <a:srgbClr val="ED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1" i="0">
                          <a:solidFill>
                            <a:srgbClr val="101C24"/>
                          </a:solidFill>
                          <a:latin typeface="Consolas"/>
                          <a:ea typeface="Consolas"/>
                          <a:cs typeface="Consolas"/>
                        </a:rPr>
                        <a:t>36</a:t>
                      </a:r>
                    </a:p>
                  </a:txBody>
                  <a:tcPr marL="82296" marR="54864" marT="27432" marB="27432" anchor="ctr">
                    <a:solidFill>
                      <a:srgbClr val="ED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1" i="0">
                          <a:solidFill>
                            <a:srgbClr val="101C24"/>
                          </a:solidFill>
                          <a:latin typeface="Consolas"/>
                          <a:ea typeface="Consolas"/>
                          <a:cs typeface="Consolas"/>
                        </a:rPr>
                        <a:t>32/36</a:t>
                      </a:r>
                    </a:p>
                  </a:txBody>
                  <a:tcPr marL="82296" marR="54864" marT="27432" marB="27432" anchor="ctr">
                    <a:solidFill>
                      <a:srgbClr val="ED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1" i="0">
                          <a:solidFill>
                            <a:srgbClr val="101C24"/>
                          </a:solidFill>
                          <a:latin typeface="Consolas"/>
                          <a:ea typeface="Consolas"/>
                          <a:cs typeface="Consolas"/>
                        </a:rPr>
                        <a:t>3.46 s</a:t>
                      </a:r>
                    </a:p>
                  </a:txBody>
                  <a:tcPr marL="82296" marR="54864" marT="27432" marB="27432" anchor="ctr">
                    <a:solidFill>
                      <a:srgbClr val="ED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1" i="0">
                          <a:solidFill>
                            <a:srgbClr val="101C24"/>
                          </a:solidFill>
                          <a:latin typeface="Consolas"/>
                          <a:ea typeface="Consolas"/>
                          <a:cs typeface="Consolas"/>
                        </a:rPr>
                        <a:t>16.56 s</a:t>
                      </a:r>
                    </a:p>
                  </a:txBody>
                  <a:tcPr marL="82296" marR="54864" marT="27432" marB="27432" anchor="ctr">
                    <a:solidFill>
                      <a:srgbClr val="EDF0F2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783080" y="4242816"/>
            <a:ext cx="5806440" cy="7772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95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95% Clopper–Pearson [73.9%, 96.9%]. </a:t>
            </a:r>
            <a:r>
              <a:rPr sz="95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All four failures are at 4 m/s and all trace to estimator failure</a:t>
            </a:r>
            <a:r>
              <a:rPr sz="95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 — three never recognised the payload, one diverged after release.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955279" y="2487168"/>
          <a:ext cx="3794760" cy="1609344"/>
        </p:xfrm>
        <a:graphic>
          <a:graphicData uri="http://schemas.openxmlformats.org/drawingml/2006/table">
            <a:tbl>
              <a:tblPr firstRow="0" bandRow="0" firstCol="0"/>
              <a:tblGrid>
                <a:gridCol w="1298448"/>
                <a:gridCol w="438912"/>
                <a:gridCol w="685800"/>
                <a:gridCol w="658368"/>
                <a:gridCol w="713232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850" b="0" i="0">
                          <a:solidFill>
                            <a:srgbClr val="8B9AA4"/>
                          </a:solidFill>
                          <a:latin typeface="Consolas"/>
                          <a:ea typeface="Consolas"/>
                          <a:cs typeface="Consolas"/>
                        </a:rPr>
                        <a:t>CONDITION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850" b="0" i="0">
                          <a:solidFill>
                            <a:srgbClr val="8B9AA4"/>
                          </a:solidFill>
                          <a:latin typeface="Consolas"/>
                          <a:ea typeface="Consolas"/>
                          <a:cs typeface="Consolas"/>
                        </a:rPr>
                        <a:t>n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850" b="0" i="0">
                          <a:solidFill>
                            <a:srgbClr val="8B9AA4"/>
                          </a:solidFill>
                          <a:latin typeface="Consolas"/>
                          <a:ea typeface="Consolas"/>
                          <a:cs typeface="Consolas"/>
                        </a:rPr>
                        <a:t>MOMENT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850" b="0" i="0">
                          <a:solidFill>
                            <a:srgbClr val="8B9AA4"/>
                          </a:solidFill>
                          <a:latin typeface="Consolas"/>
                          <a:ea typeface="Consolas"/>
                          <a:cs typeface="Consolas"/>
                        </a:rPr>
                        <a:t>MASS-DOM.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850" b="0" i="0">
                          <a:solidFill>
                            <a:srgbClr val="8B9AA4"/>
                          </a:solidFill>
                          <a:latin typeface="Consolas"/>
                          <a:ea typeface="Consolas"/>
                          <a:cs typeface="Consolas"/>
                        </a:rPr>
                        <a:t>CONF. ONLY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Segoe UI"/>
                          <a:ea typeface="Segoe UI"/>
                          <a:cs typeface="Segoe UI"/>
                        </a:rPr>
                        <a:t>0.15 kg, 4 m/s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0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Segoe UI"/>
                          <a:ea typeface="Segoe UI"/>
                          <a:cs typeface="Segoe UI"/>
                        </a:rPr>
                        <a:t>0.30 kg, 4 m/s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Segoe UI"/>
                          <a:ea typeface="Segoe UI"/>
                          <a:cs typeface="Segoe UI"/>
                        </a:rPr>
                        <a:t>0.15 kg, 2 m/s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0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1" i="0">
                          <a:solidFill>
                            <a:srgbClr val="101C24"/>
                          </a:solidFill>
                          <a:latin typeface="Segoe UI"/>
                          <a:ea typeface="Segoe UI"/>
                          <a:cs typeface="Segoe UI"/>
                        </a:rPr>
                        <a:t>pooled</a:t>
                      </a:r>
                    </a:p>
                  </a:txBody>
                  <a:tcPr marL="82296" marR="54864" marT="27432" marB="27432" anchor="ctr">
                    <a:solidFill>
                      <a:srgbClr val="ED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1" i="0">
                          <a:solidFill>
                            <a:srgbClr val="101C24"/>
                          </a:solidFill>
                          <a:latin typeface="Consolas"/>
                          <a:ea typeface="Consolas"/>
                          <a:cs typeface="Consolas"/>
                        </a:rPr>
                        <a:t>32</a:t>
                      </a:r>
                    </a:p>
                  </a:txBody>
                  <a:tcPr marL="82296" marR="54864" marT="27432" marB="27432" anchor="ctr">
                    <a:solidFill>
                      <a:srgbClr val="ED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1" i="0">
                          <a:solidFill>
                            <a:srgbClr val="101C24"/>
                          </a:solidFill>
                          <a:latin typeface="Consolas"/>
                          <a:ea typeface="Consolas"/>
                          <a:cs typeface="Consolas"/>
                        </a:rPr>
                        <a:t>19</a:t>
                      </a:r>
                    </a:p>
                  </a:txBody>
                  <a:tcPr marL="82296" marR="54864" marT="27432" marB="27432" anchor="ctr">
                    <a:solidFill>
                      <a:srgbClr val="ED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1" i="0">
                          <a:solidFill>
                            <a:srgbClr val="101C24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82296" marR="54864" marT="27432" marB="27432" anchor="ctr">
                    <a:solidFill>
                      <a:srgbClr val="ED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1" i="0">
                          <a:solidFill>
                            <a:srgbClr val="101C24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82296" marR="54864" marT="27432" marB="27432" anchor="ctr">
                    <a:solidFill>
                      <a:srgbClr val="EDF0F2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7955279" y="4242816"/>
            <a:ext cx="3794760" cy="1170432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7955279" y="4242816"/>
            <a:ext cx="32004" cy="1170432"/>
          </a:xfrm>
          <a:prstGeom prst="rect">
            <a:avLst/>
          </a:prstGeom>
          <a:solidFill>
            <a:srgbClr val="A6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138159" y="4361688"/>
            <a:ext cx="3447288" cy="95097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A limitation, not a score:</a:t>
            </a: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 32/36 holds for </a:t>
            </a:r>
            <a:r>
              <a:rPr sz="10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the interface as a whole</a:t>
            </a: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, not for any single detector — confirmation arrived by </a:t>
            </a:r>
            <a:r>
              <a:rPr sz="10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three different paths</a:t>
            </a: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83080" y="5550408"/>
            <a:ext cx="9966960" cy="804672"/>
          </a:xfrm>
          <a:prstGeom prst="rect">
            <a:avLst/>
          </a:prstGeom>
          <a:solidFill>
            <a:srgbClr val="E8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783080" y="5550408"/>
            <a:ext cx="32004" cy="804672"/>
          </a:xfrm>
          <a:prstGeom prst="rect">
            <a:avLst/>
          </a:prstGeom>
          <a:solidFill>
            <a:srgbClr val="0A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965960" y="5669280"/>
            <a:ext cx="9619488" cy="58521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The delay is bimodal, and the paper refuses to pool it:</a:t>
            </a: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 17 of 32 confirm while still flying the figure-eight (median 3.46 s); the other 15 find no evidence in manoeuvre, hit the 12 s timeout, brake to hover, and confirm at a median 16.56 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83080" y="6428232"/>
            <a:ext cx="9966960" cy="7315"/>
          </a:xfrm>
          <a:prstGeom prst="rect">
            <a:avLst/>
          </a:prstGeom>
          <a:solidFill>
            <a:srgbClr val="D2D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783080" y="6492240"/>
            <a:ext cx="996696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90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43000" cy="7315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3000" b="1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1060704"/>
            <a:ext cx="132588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950" b="0" i="0">
                <a:solidFill>
                  <a:srgbClr val="8B9AA4"/>
                </a:solidFill>
                <a:latin typeface="Segoe UI"/>
                <a:ea typeface="Segoe UI"/>
                <a:cs typeface="Segoe UI"/>
              </a:rPr>
              <a:t>EXPERIMENTS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536192" y="475488"/>
            <a:ext cx="7315" cy="5577840"/>
          </a:xfrm>
          <a:prstGeom prst="rect">
            <a:avLst/>
          </a:prstGeom>
          <a:solidFill>
            <a:srgbClr val="D2D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783080" y="512064"/>
            <a:ext cx="996696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950" b="1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TABLE II · PAIRED ABLATION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804672"/>
            <a:ext cx="9966960" cy="7772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Head-to-head with clearing on the command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627632"/>
            <a:ext cx="8571585" cy="6858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5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Arm A clears the payload model at the command (the conventional approach); arm B is the proposed interface; arm C is arm B, armed only by the command.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783080" y="2487168"/>
          <a:ext cx="9966960" cy="1389888"/>
        </p:xfrm>
        <a:graphic>
          <a:graphicData uri="http://schemas.openxmlformats.org/drawingml/2006/table">
            <a:tbl>
              <a:tblPr firstRow="0" bandRow="0" firstCol="0"/>
              <a:tblGrid>
                <a:gridCol w="2606040"/>
                <a:gridCol w="960120"/>
                <a:gridCol w="1143000"/>
                <a:gridCol w="1143000"/>
                <a:gridCol w="4114800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850" b="0" i="0">
                          <a:solidFill>
                            <a:srgbClr val="8B9AA4"/>
                          </a:solidFill>
                          <a:latin typeface="Consolas"/>
                          <a:ea typeface="Consolas"/>
                          <a:cs typeface="Consolas"/>
                        </a:rPr>
                        <a:t>CONDITION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850" b="0" i="0">
                          <a:solidFill>
                            <a:srgbClr val="8B9AA4"/>
                          </a:solidFill>
                          <a:latin typeface="Consolas"/>
                          <a:ea typeface="Consolas"/>
                          <a:cs typeface="Consolas"/>
                        </a:rPr>
                        <a:t>PAIRS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850" b="0" i="0">
                          <a:solidFill>
                            <a:srgbClr val="8B9AA4"/>
                          </a:solidFill>
                          <a:latin typeface="Consolas"/>
                          <a:ea typeface="Consolas"/>
                          <a:cs typeface="Consolas"/>
                        </a:rPr>
                        <a:t>A COMPL.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850" b="0" i="0">
                          <a:solidFill>
                            <a:srgbClr val="8B9AA4"/>
                          </a:solidFill>
                          <a:latin typeface="Consolas"/>
                          <a:ea typeface="Consolas"/>
                          <a:cs typeface="Consolas"/>
                        </a:rPr>
                        <a:t>B COMPL.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850" b="0" i="0">
                          <a:solidFill>
                            <a:srgbClr val="8B9AA4"/>
                          </a:solidFill>
                          <a:latin typeface="Consolas"/>
                          <a:ea typeface="Consolas"/>
                          <a:cs typeface="Consolas"/>
                        </a:rPr>
                        <a:t>EARLY CLEAR (A / B)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5C6B77"/>
                          </a:solidFill>
                          <a:latin typeface="Segoe UI"/>
                          <a:ea typeface="Segoe UI"/>
                          <a:cs typeface="Segoe UI"/>
                        </a:rPr>
                        <a:t>nominal, pooled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19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19/19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19/19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— (no mismatch to measure)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5C6B77"/>
                          </a:solidFill>
                          <a:latin typeface="Segoe UI"/>
                          <a:ea typeface="Segoe UI"/>
                          <a:cs typeface="Segoe UI"/>
                        </a:rPr>
                        <a:t>+ 4 s detachment hold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5/5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5/5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1" i="0">
                          <a:solidFill>
                            <a:srgbClr val="B3321F"/>
                          </a:solidFill>
                          <a:latin typeface="Consolas"/>
                          <a:ea typeface="Consolas"/>
                          <a:cs typeface="Consolas"/>
                        </a:rPr>
                        <a:t>A 5/5 early</a:t>
                      </a:r>
                      <a:r>
                        <a:rPr sz="95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 / </a:t>
                      </a:r>
                      <a:r>
                        <a:rPr sz="950" b="1" i="0">
                          <a:solidFill>
                            <a:srgbClr val="101C24"/>
                          </a:solidFill>
                          <a:latin typeface="Consolas"/>
                          <a:ea typeface="Consolas"/>
                          <a:cs typeface="Consolas"/>
                        </a:rPr>
                        <a:t>B 0/5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5C6B77"/>
                          </a:solidFill>
                          <a:latin typeface="Segoe UI"/>
                          <a:ea typeface="Segoe UI"/>
                          <a:cs typeface="Segoe UI"/>
                        </a:rPr>
                        <a:t>same, arm C instead of A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6/6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6/6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1" i="0">
                          <a:solidFill>
                            <a:srgbClr val="101C24"/>
                          </a:solidFill>
                          <a:latin typeface="Consolas"/>
                          <a:ea typeface="Consolas"/>
                          <a:cs typeface="Consolas"/>
                        </a:rPr>
                        <a:t>0/6 / 0/6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1783080" y="4059936"/>
            <a:ext cx="4800600" cy="1645920"/>
          </a:xfrm>
          <a:prstGeom prst="rect">
            <a:avLst/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783080" y="4059936"/>
            <a:ext cx="32004" cy="1645920"/>
          </a:xfrm>
          <a:prstGeom prst="rect">
            <a:avLst/>
          </a:prstGeom>
          <a:solidFill>
            <a:srgbClr val="0A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965960" y="4206240"/>
            <a:ext cx="4453128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85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THE ARMS TIE UNDER NOMINAL CONDITIONS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4453128"/>
            <a:ext cx="4453128" cy="1142999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19/19 vs 19/19, no post-release instability. The paper therefore </a:t>
            </a:r>
            <a:r>
              <a:rPr sz="10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does not sell the nominal case</a:t>
            </a: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.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Arm A cleared a median </a:t>
            </a:r>
            <a:r>
              <a:rPr sz="10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4.01 s before</a:t>
            </a: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 detachment; arm B cleared early in </a:t>
            </a:r>
            <a:r>
              <a:rPr sz="10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none of its six valid runs</a:t>
            </a: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0" y="4059936"/>
            <a:ext cx="4800600" cy="1645920"/>
          </a:xfrm>
          <a:prstGeom prst="rect">
            <a:avLst/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949440" y="4059936"/>
            <a:ext cx="32004" cy="1645920"/>
          </a:xfrm>
          <a:prstGeom prst="rect">
            <a:avLst/>
          </a:prstGeom>
          <a:solidFill>
            <a:srgbClr val="0A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132320" y="4206240"/>
            <a:ext cx="4453128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85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THE ONE DECISIVE 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4453128"/>
            <a:ext cx="4453128" cy="1142999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With losses injected and no command reaching the controller: </a:t>
            </a:r>
            <a:r>
              <a:rPr sz="10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arm B detected 10 of 18</a:t>
            </a: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; </a:t>
            </a:r>
            <a:r>
              <a:rPr sz="10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arm C detected none</a:t>
            </a: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, and kept a phantom first moment.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The difference is </a:t>
            </a:r>
            <a:r>
              <a:rPr sz="10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possible vs impossible</a:t>
            </a: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, not better vs worse.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83080" y="5833872"/>
            <a:ext cx="9966960" cy="530352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1783080" y="5833872"/>
            <a:ext cx="32004" cy="530352"/>
          </a:xfrm>
          <a:prstGeom prst="rect">
            <a:avLst/>
          </a:prstGeom>
          <a:solidFill>
            <a:srgbClr val="A6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965960" y="5952744"/>
            <a:ext cx="9619488" cy="31089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Seven of the eight misses share one cause: the moment reference had not formed before the loss.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83080" y="6428232"/>
            <a:ext cx="9966960" cy="7315"/>
          </a:xfrm>
          <a:prstGeom prst="rect">
            <a:avLst/>
          </a:prstGeom>
          <a:solidFill>
            <a:srgbClr val="D2D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783080" y="6492240"/>
            <a:ext cx="996696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90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43000" cy="7315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3000" b="1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1060704"/>
            <a:ext cx="132588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950" b="0" i="0">
                <a:solidFill>
                  <a:srgbClr val="8B9AA4"/>
                </a:solidFill>
                <a:latin typeface="Segoe UI"/>
                <a:ea typeface="Segoe UI"/>
                <a:cs typeface="Segoe UI"/>
              </a:rPr>
              <a:t>EXPERIMENTS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536192" y="475488"/>
            <a:ext cx="7315" cy="5577840"/>
          </a:xfrm>
          <a:prstGeom prst="rect">
            <a:avLst/>
          </a:prstGeom>
          <a:solidFill>
            <a:srgbClr val="D2D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783080" y="512064"/>
            <a:ext cx="996696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950" b="1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FIG. 4 · ONE EVENTLESS FLIGHT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804672"/>
            <a:ext cx="9966960" cy="7772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What one complete flight looks like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627632"/>
            <a:ext cx="8571585" cy="6858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5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0.15 kg at 2 m/s, confirmed in manoeuvre. Right: height, the mass estimate the controller actually consumed, and position-error norm.</a:t>
            </a:r>
          </a:p>
        </p:txBody>
      </p:sp>
      <p:pic>
        <p:nvPicPr>
          <p:cNvPr id="9" name="Picture 8" descr="fig_mi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080" y="2487168"/>
            <a:ext cx="9966960" cy="265092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783080" y="5302547"/>
            <a:ext cx="3139440" cy="1481328"/>
          </a:xfrm>
          <a:prstGeom prst="rect">
            <a:avLst/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783080" y="5302547"/>
            <a:ext cx="32004" cy="1481328"/>
          </a:xfrm>
          <a:prstGeom prst="rect">
            <a:avLst/>
          </a:prstGeom>
          <a:solidFill>
            <a:srgbClr val="0A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965960" y="5448851"/>
            <a:ext cx="2791968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85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GRASP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5695739"/>
            <a:ext cx="2791968" cy="31089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The mass rises on its 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6061499"/>
            <a:ext cx="2791968" cy="61264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No attach signal — the 0.6 m error peak is the lift itself, not recognition.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96840" y="5302547"/>
            <a:ext cx="3139440" cy="1481328"/>
          </a:xfrm>
          <a:prstGeom prst="rect">
            <a:avLst/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196840" y="5302547"/>
            <a:ext cx="32004" cy="1481328"/>
          </a:xfrm>
          <a:prstGeom prst="rect">
            <a:avLst/>
          </a:prstGeom>
          <a:solidFill>
            <a:srgbClr val="0A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379720" y="5448851"/>
            <a:ext cx="2791968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85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CARRY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79720" y="5695739"/>
            <a:ext cx="2791968" cy="31089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The model stays consistent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79720" y="6061499"/>
            <a:ext cx="2791968" cy="61264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Loaded tracking RMS 0.053 m; 0.060 m after release.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10600" y="5302547"/>
            <a:ext cx="3139440" cy="1481328"/>
          </a:xfrm>
          <a:prstGeom prst="rect">
            <a:avLst/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8610600" y="5302547"/>
            <a:ext cx="32004" cy="1481328"/>
          </a:xfrm>
          <a:prstGeom prst="rect">
            <a:avLst/>
          </a:prstGeom>
          <a:solidFill>
            <a:srgbClr val="A6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793479" y="5448851"/>
            <a:ext cx="2791968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85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RELEASE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3479" y="5695739"/>
            <a:ext cx="2791968" cy="31089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Confirmed 4.46 s later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93479" y="6061499"/>
            <a:ext cx="2791968" cy="61264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The delay is the </a:t>
            </a:r>
            <a:r>
              <a:rPr sz="10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price we choose</a:t>
            </a: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: semantics that never run ahead of evidence.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83080" y="6428232"/>
            <a:ext cx="9966960" cy="7315"/>
          </a:xfrm>
          <a:prstGeom prst="rect">
            <a:avLst/>
          </a:prstGeom>
          <a:solidFill>
            <a:srgbClr val="D2D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783080" y="6492240"/>
            <a:ext cx="996696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90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43000" cy="7315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3000" b="1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1060704"/>
            <a:ext cx="132588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950" b="0" i="0">
                <a:solidFill>
                  <a:srgbClr val="8B9AA4"/>
                </a:solidFill>
                <a:latin typeface="Segoe UI"/>
                <a:ea typeface="Segoe UI"/>
                <a:cs typeface="Segoe UI"/>
              </a:rPr>
              <a:t>EXPERIMENTS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536192" y="475488"/>
            <a:ext cx="7315" cy="5577840"/>
          </a:xfrm>
          <a:prstGeom prst="rect">
            <a:avLst/>
          </a:prstGeom>
          <a:solidFill>
            <a:srgbClr val="D2D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783080" y="512064"/>
            <a:ext cx="996696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950" b="1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TABLE V · vs. L1-ADAPTIVE NMPC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804672"/>
            <a:ext cx="9966960" cy="7772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Against the adaptive baseline: claims and non-claims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627632"/>
            <a:ext cx="8571585" cy="6858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5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{truth, online, l1} × {0.2, 0.3} kg × {0.05, 0.10} m, n = 5 per cell — 60 of 60 runs stable, zero divergence.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783080" y="2487168"/>
          <a:ext cx="5623560" cy="1682496"/>
        </p:xfrm>
        <a:graphic>
          <a:graphicData uri="http://schemas.openxmlformats.org/drawingml/2006/table">
            <a:tbl>
              <a:tblPr firstRow="0" bandRow="0" firstCol="0"/>
              <a:tblGrid>
                <a:gridCol w="1920240"/>
                <a:gridCol w="1234440"/>
                <a:gridCol w="1234440"/>
                <a:gridCol w="1234440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850" b="0" i="0">
                          <a:solidFill>
                            <a:srgbClr val="8B9AA4"/>
                          </a:solidFill>
                          <a:latin typeface="Consolas"/>
                          <a:ea typeface="Consolas"/>
                          <a:cs typeface="Consolas"/>
                        </a:rPr>
                        <a:t>CELL (MASS / ECC)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850" b="0" i="0">
                          <a:solidFill>
                            <a:srgbClr val="8B9AA4"/>
                          </a:solidFill>
                          <a:latin typeface="Consolas"/>
                          <a:ea typeface="Consolas"/>
                          <a:cs typeface="Consolas"/>
                        </a:rPr>
                        <a:t>TRUTH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850" b="0" i="0">
                          <a:solidFill>
                            <a:srgbClr val="8B9AA4"/>
                          </a:solidFill>
                          <a:latin typeface="Consolas"/>
                          <a:ea typeface="Consolas"/>
                          <a:cs typeface="Consolas"/>
                        </a:rPr>
                        <a:t>ONLINE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850" b="0" i="0">
                          <a:solidFill>
                            <a:srgbClr val="8B9AA4"/>
                          </a:solidFill>
                          <a:latin typeface="Consolas"/>
                          <a:ea typeface="Consolas"/>
                          <a:cs typeface="Consolas"/>
                        </a:rPr>
                        <a:t>L1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Segoe UI"/>
                          <a:ea typeface="Segoe UI"/>
                          <a:cs typeface="Segoe UI"/>
                        </a:rPr>
                        <a:t>0.2 kg / 0.05 m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0.806 / 4.28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0.768 / 3.70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0.821 / 4.26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Segoe UI"/>
                          <a:ea typeface="Segoe UI"/>
                          <a:cs typeface="Segoe UI"/>
                        </a:rPr>
                        <a:t>0.2 kg / 0.10 m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0.794 / 3.62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0.810 / 3.92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0.812 / 4.24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Segoe UI"/>
                          <a:ea typeface="Segoe UI"/>
                          <a:cs typeface="Segoe UI"/>
                        </a:rPr>
                        <a:t>0.3 kg / 0.05 m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0.834 / 3.56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0.837 / 3.72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0.883 / 4.90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Segoe UI"/>
                          <a:ea typeface="Segoe UI"/>
                          <a:cs typeface="Segoe UI"/>
                        </a:rPr>
                        <a:t>0.3 kg / 0.10 m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1.011 / 3.64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0.876 / 3.88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5C6B77"/>
                          </a:solidFill>
                          <a:latin typeface="Consolas"/>
                          <a:ea typeface="Consolas"/>
                          <a:cs typeface="Consolas"/>
                        </a:rPr>
                        <a:t>0.891 / 4.54</a:t>
                      </a:r>
                    </a:p>
                  </a:txBody>
                  <a:tcPr marL="82296" marR="54864" marT="27432" marB="27432" anchor="ctr"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783080" y="4297680"/>
            <a:ext cx="562356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85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cell = position-error peak [m] / recovery [s]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83080" y="4818888"/>
            <a:ext cx="5623560" cy="137160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1783080" y="4818888"/>
            <a:ext cx="32004" cy="1371600"/>
          </a:xfrm>
          <a:prstGeom prst="rect">
            <a:avLst/>
          </a:prstGeom>
          <a:solidFill>
            <a:srgbClr val="A6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965960" y="4937759"/>
            <a:ext cx="5276088" cy="115214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Two caveats travel with this table:</a:t>
            </a: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 it was recorded with the earlier </a:t>
            </a:r>
            <a:r>
              <a:rPr sz="10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mass-only 14-state MHE, not</a:t>
            </a: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 the proposed first-moment interface — so it supports only a bounded baseline comparison; and L1 yields no interpretable m or c_xy while still needing the same class of prior for gain scheduling.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2487168"/>
            <a:ext cx="3977640" cy="1737360"/>
          </a:xfrm>
          <a:prstGeom prst="rect">
            <a:avLst/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7772400" y="2487168"/>
            <a:ext cx="32004" cy="1737360"/>
          </a:xfrm>
          <a:prstGeom prst="rect">
            <a:avLst/>
          </a:prstGeom>
          <a:solidFill>
            <a:srgbClr val="B33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955279" y="2633472"/>
            <a:ext cx="3630168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85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WHAT WE DO NOT CLAIM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2880360"/>
            <a:ext cx="3630168" cy="31089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Transient peaks are indistinguishable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3246120"/>
            <a:ext cx="3630168" cy="868679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Within-cell peaks agree to 0.05 m. L1 is higher in the two low-eccentricity cells (p = .008, .012), </a:t>
            </a:r>
            <a:r>
              <a:rPr sz="10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but that does not survive correction over eight tests</a:t>
            </a: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4389120"/>
            <a:ext cx="3977640" cy="1801368"/>
          </a:xfrm>
          <a:prstGeom prst="rect">
            <a:avLst/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7772400" y="4389120"/>
            <a:ext cx="32004" cy="1801368"/>
          </a:xfrm>
          <a:prstGeom prst="rect">
            <a:avLst/>
          </a:prstGeom>
          <a:solidFill>
            <a:srgbClr val="0A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955279" y="4535424"/>
            <a:ext cx="3630168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85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WHAT WE DO CLAIM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4782312"/>
            <a:ext cx="3630168" cy="31089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L1 recovers 8–32% slower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5148072"/>
            <a:ext cx="3630168" cy="932687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Median 16%, significant in three of four cells. The mechanism is a </a:t>
            </a:r>
            <a:r>
              <a:rPr sz="10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bandwidth wall</a:t>
            </a: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: L1's compensation cutoff ω_c is bounded by closed-loop stability (0.5 stable, 1.0 unstable here).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83080" y="6428232"/>
            <a:ext cx="9966960" cy="7315"/>
          </a:xfrm>
          <a:prstGeom prst="rect">
            <a:avLst/>
          </a:prstGeom>
          <a:solidFill>
            <a:srgbClr val="D2D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783080" y="6492240"/>
            <a:ext cx="996696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90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43000" cy="7315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3000" b="1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1060704"/>
            <a:ext cx="132588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950" b="0" i="0">
                <a:solidFill>
                  <a:srgbClr val="8B9AA4"/>
                </a:solidFill>
                <a:latin typeface="Segoe UI"/>
                <a:ea typeface="Segoe UI"/>
                <a:cs typeface="Segoe UI"/>
              </a:rPr>
              <a:t>STATUS</a:t>
            </a:r>
          </a:p>
        </p:txBody>
      </p:sp>
      <p:sp>
        <p:nvSpPr>
          <p:cNvPr id="5" name="Rectangle 4"/>
          <p:cNvSpPr/>
          <p:nvPr/>
        </p:nvSpPr>
        <p:spPr>
          <a:xfrm>
            <a:off x="1536192" y="475488"/>
            <a:ext cx="7315" cy="5577840"/>
          </a:xfrm>
          <a:prstGeom prst="rect">
            <a:avLst/>
          </a:prstGeom>
          <a:solidFill>
            <a:srgbClr val="D2D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783080" y="512064"/>
            <a:ext cx="996696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950" b="1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LIMITATIONS · §VII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804672"/>
            <a:ext cx="9966960" cy="7772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What does not hold yet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627632"/>
            <a:ext cx="8571585" cy="6858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5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Every item below is stated by the paper itself. They are worth presenting plainly, because they define the next steps.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487168"/>
            <a:ext cx="4777740" cy="267004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100"/>
              </a:spcAft>
            </a:pPr>
            <a:r>
              <a:rPr sz="980" b="1" i="0">
                <a:solidFill>
                  <a:srgbClr val="B3321F"/>
                </a:solidFill>
                <a:latin typeface="Segoe UI"/>
                <a:ea typeface="Segoe UI"/>
                <a:cs typeface="Segoe UI"/>
              </a:rPr>
              <a:t>1</a:t>
            </a:r>
            <a:r>
              <a:rPr sz="98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  </a:t>
            </a:r>
            <a:r>
              <a:rPr sz="98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All system-level evidence is SITL.</a:t>
            </a:r>
            <a:r>
              <a:rPr sz="98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 Hardware migration replaces simulated rotor speeds with ESC telemetry and must re-identify thrust/torque coefficients, noise floors, timing and gripper compliance.</a:t>
            </a:r>
          </a:p>
          <a:p>
            <a:pPr algn="l">
              <a:lnSpc>
                <a:spcPct val="150000"/>
              </a:lnSpc>
              <a:spcAft>
                <a:spcPts val="1100"/>
              </a:spcAft>
            </a:pPr>
            <a:r>
              <a:rPr sz="980" b="1" i="0">
                <a:solidFill>
                  <a:srgbClr val="B3321F"/>
                </a:solidFill>
                <a:latin typeface="Segoe UI"/>
                <a:ea typeface="Segoe UI"/>
                <a:cs typeface="Segoe UI"/>
              </a:rPr>
              <a:t>2</a:t>
            </a:r>
            <a:r>
              <a:rPr sz="98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  </a:t>
            </a:r>
            <a:r>
              <a:rPr sz="98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k must be calibrated well within 5%.</a:t>
            </a:r>
            <a:r>
              <a:rPr sz="98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 Scaling only the estimator's thrust map by ±5%: at 0.95 the payload was </a:t>
            </a:r>
            <a:r>
              <a:rPr sz="98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never recognised (4/4)</a:t>
            </a:r>
            <a:r>
              <a:rPr sz="98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; at 1.05 a phantom 0.09 kg persisted after release.</a:t>
            </a:r>
          </a:p>
          <a:p>
            <a:pPr algn="l">
              <a:lnSpc>
                <a:spcPct val="150000"/>
              </a:lnSpc>
              <a:spcAft>
                <a:spcPts val="1100"/>
              </a:spcAft>
            </a:pPr>
            <a:r>
              <a:rPr sz="980" b="1" i="0">
                <a:solidFill>
                  <a:srgbClr val="B3321F"/>
                </a:solidFill>
                <a:latin typeface="Segoe UI"/>
                <a:ea typeface="Segoe UI"/>
                <a:cs typeface="Segoe UI"/>
              </a:rPr>
              <a:t>3</a:t>
            </a:r>
            <a:r>
              <a:rPr sz="98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  </a:t>
            </a:r>
            <a:r>
              <a:rPr sz="98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The first moment is biased low.</a:t>
            </a:r>
            <a:r>
              <a:rPr sz="98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 Slope 0.85 in carry, median underestimate 10.8%, same direction in 31/31 flights. </a:t>
            </a:r>
            <a:r>
              <a:rPr sz="98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The cause is not identified.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72300" y="2487168"/>
            <a:ext cx="4777740" cy="267004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100"/>
              </a:spcAft>
            </a:pPr>
            <a:r>
              <a:rPr sz="980" b="1" i="0">
                <a:solidFill>
                  <a:srgbClr val="B3321F"/>
                </a:solidFill>
                <a:latin typeface="Segoe UI"/>
                <a:ea typeface="Segoe UI"/>
                <a:cs typeface="Segoe UI"/>
              </a:rPr>
              <a:t>4</a:t>
            </a:r>
            <a:r>
              <a:rPr sz="98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  </a:t>
            </a:r>
            <a:r>
              <a:rPr sz="98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Reference formation is unreliable.</a:t>
            </a:r>
            <a:r>
              <a:rPr sz="98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 In </a:t>
            </a:r>
            <a:r>
              <a:rPr sz="98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13 of the 32</a:t>
            </a:r>
            <a:r>
              <a:rPr sz="98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 completed flights the in-envelope reference window never filled, so the moment-ratio test never ran.</a:t>
            </a:r>
          </a:p>
          <a:p>
            <a:pPr algn="l">
              <a:lnSpc>
                <a:spcPct val="150000"/>
              </a:lnSpc>
              <a:spcAft>
                <a:spcPts val="1100"/>
              </a:spcAft>
            </a:pPr>
            <a:r>
              <a:rPr sz="980" b="1" i="0">
                <a:solidFill>
                  <a:srgbClr val="B3321F"/>
                </a:solidFill>
                <a:latin typeface="Segoe UI"/>
                <a:ea typeface="Segoe UI"/>
                <a:cs typeface="Segoe UI"/>
              </a:rPr>
              <a:t>5</a:t>
            </a:r>
            <a:r>
              <a:rPr sz="98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  </a:t>
            </a:r>
            <a:r>
              <a:rPr sz="98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Release is not gated on estimator health.</a:t>
            </a:r>
            <a:r>
              <a:rPr sz="98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 One flight's estimate was unhealthy for 48 s before release; the phase-timed command fired anyway and the vehicle diverged.</a:t>
            </a:r>
          </a:p>
          <a:p>
            <a:pPr algn="l">
              <a:lnSpc>
                <a:spcPct val="150000"/>
              </a:lnSpc>
              <a:spcAft>
                <a:spcPts val="1100"/>
              </a:spcAft>
            </a:pPr>
            <a:r>
              <a:rPr sz="980" b="1" i="0">
                <a:solidFill>
                  <a:srgbClr val="B3321F"/>
                </a:solidFill>
                <a:latin typeface="Segoe UI"/>
                <a:ea typeface="Segoe UI"/>
                <a:cs typeface="Segoe UI"/>
              </a:rPr>
              <a:t>6</a:t>
            </a:r>
            <a:r>
              <a:rPr sz="98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  </a:t>
            </a:r>
            <a:r>
              <a:rPr sz="98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0.30 kg at 4 m/s is a stress test, not an operating point.</a:t>
            </a:r>
            <a:r>
              <a:rPr sz="98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 Hover needs 74% of maximum thrust, but </a:t>
            </a:r>
            <a:r>
              <a:rPr sz="98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torque binds first</a:t>
            </a:r>
            <a:r>
              <a:rPr sz="98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: pitch saturated within 98% of diagnostic windows.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83080" y="5276088"/>
            <a:ext cx="9966960" cy="960120"/>
          </a:xfrm>
          <a:prstGeom prst="rect">
            <a:avLst/>
          </a:prstGeom>
          <a:solidFill>
            <a:srgbClr val="F9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1783080" y="5276088"/>
            <a:ext cx="32004" cy="960120"/>
          </a:xfrm>
          <a:prstGeom prst="rect">
            <a:avLst/>
          </a:prstGeom>
          <a:solidFill>
            <a:srgbClr val="B33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965960" y="5394959"/>
            <a:ext cx="9619488" cy="74066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Two more that are easy to miss:</a:t>
            </a: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 a sustained updraft or downdraft is </a:t>
            </a:r>
            <a:r>
              <a:rPr sz="10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intrinsically confounded</a:t>
            </a: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 with a payload change on a collective-thrust-only residual (wind is not evaluated here); and the release-evidence path is </a:t>
            </a:r>
            <a:r>
              <a:rPr sz="10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off by default</a:t>
            </a: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, so deployment needs an explicit enable plus startup validation.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83080" y="6428232"/>
            <a:ext cx="9966960" cy="7315"/>
          </a:xfrm>
          <a:prstGeom prst="rect">
            <a:avLst/>
          </a:prstGeom>
          <a:solidFill>
            <a:srgbClr val="D2D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783080" y="6492240"/>
            <a:ext cx="996696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90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43000" cy="7315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3000" b="1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1060704"/>
            <a:ext cx="132588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950" b="0" i="0">
                <a:solidFill>
                  <a:srgbClr val="8B9AA4"/>
                </a:solidFill>
                <a:latin typeface="Segoe UI"/>
                <a:ea typeface="Segoe UI"/>
                <a:cs typeface="Segoe UI"/>
              </a:rPr>
              <a:t>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1536192" y="475488"/>
            <a:ext cx="7315" cy="5577840"/>
          </a:xfrm>
          <a:prstGeom prst="rect">
            <a:avLst/>
          </a:prstGeom>
          <a:solidFill>
            <a:srgbClr val="D2D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783080" y="512064"/>
            <a:ext cx="996696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950" b="1" i="0">
                <a:solidFill>
                  <a:srgbClr val="0A6E70"/>
                </a:solidFill>
                <a:latin typeface="Consolas"/>
                <a:ea typeface="Consolas"/>
                <a:cs typeface="Consolas"/>
              </a:rPr>
              <a:t>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804672"/>
            <a:ext cx="9966960" cy="7772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What stands, and what I did myself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682495"/>
            <a:ext cx="1993392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2200" b="1" i="0">
                <a:solidFill>
                  <a:srgbClr val="101C24"/>
                </a:solidFill>
                <a:latin typeface="Consolas"/>
                <a:ea typeface="Consolas"/>
                <a:cs typeface="Consolas"/>
              </a:rPr>
              <a:t>32/36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267712"/>
            <a:ext cx="1993392" cy="29260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850" b="0" i="0">
                <a:solidFill>
                  <a:srgbClr val="8B9AA4"/>
                </a:solidFill>
                <a:latin typeface="Segoe UI"/>
                <a:ea typeface="Segoe UI"/>
                <a:cs typeface="Segoe UI"/>
              </a:rPr>
              <a:t>eventless confirmations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76472" y="1682495"/>
            <a:ext cx="1993392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2200" b="1" i="0">
                <a:solidFill>
                  <a:srgbClr val="101C24"/>
                </a:solidFill>
                <a:latin typeface="Consolas"/>
                <a:ea typeface="Consolas"/>
                <a:cs typeface="Consolas"/>
              </a:rPr>
              <a:t>0 / 209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76472" y="2267712"/>
            <a:ext cx="1993392" cy="29260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850" b="0" i="0">
                <a:solidFill>
                  <a:srgbClr val="8B9AA4"/>
                </a:solidFill>
                <a:latin typeface="Segoe UI"/>
                <a:ea typeface="Segoe UI"/>
                <a:cs typeface="Segoe UI"/>
              </a:rPr>
              <a:t>pre-command releases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9864" y="1682495"/>
            <a:ext cx="1993392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2200" b="1" i="0">
                <a:solidFill>
                  <a:srgbClr val="101C24"/>
                </a:solidFill>
                <a:latin typeface="Consolas"/>
                <a:ea typeface="Consolas"/>
                <a:cs typeface="Consolas"/>
              </a:rPr>
              <a:t>10/18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9864" y="2267712"/>
            <a:ext cx="1993392" cy="29260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850" b="0" i="0">
                <a:solidFill>
                  <a:srgbClr val="8B9AA4"/>
                </a:solidFill>
                <a:latin typeface="Segoe UI"/>
                <a:ea typeface="Segoe UI"/>
                <a:cs typeface="Segoe UI"/>
              </a:rPr>
              <a:t>unsignaled losses caught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63256" y="1682495"/>
            <a:ext cx="1993392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2200" b="1" i="0">
                <a:solidFill>
                  <a:srgbClr val="101C24"/>
                </a:solidFill>
                <a:latin typeface="Consolas"/>
                <a:ea typeface="Consolas"/>
                <a:cs typeface="Consolas"/>
              </a:rPr>
              <a:t>0/60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63256" y="2267712"/>
            <a:ext cx="1993392" cy="29260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850" b="0" i="0">
                <a:solidFill>
                  <a:srgbClr val="8B9AA4"/>
                </a:solidFill>
                <a:latin typeface="Segoe UI"/>
                <a:ea typeface="Segoe UI"/>
                <a:cs typeface="Segoe UI"/>
              </a:rPr>
              <a:t>baseline divergences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56648" y="1682495"/>
            <a:ext cx="1993392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2200" b="1" i="0">
                <a:solidFill>
                  <a:srgbClr val="101C24"/>
                </a:solidFill>
                <a:latin typeface="Consolas"/>
                <a:ea typeface="Consolas"/>
                <a:cs typeface="Consolas"/>
              </a:rPr>
              <a:t>±5%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56648" y="2267712"/>
            <a:ext cx="1993392" cy="29260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850" b="0" i="0">
                <a:solidFill>
                  <a:srgbClr val="8B9AA4"/>
                </a:solidFill>
                <a:latin typeface="Segoe UI"/>
                <a:ea typeface="Segoe UI"/>
                <a:cs typeface="Segoe UI"/>
              </a:rPr>
              <a:t>thrust-map tolerance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2724912"/>
            <a:ext cx="4777740" cy="19659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700"/>
              </a:spcAft>
            </a:pPr>
            <a:r>
              <a:rPr sz="10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Established</a:t>
            </a:r>
          </a:p>
          <a:p>
            <a:pPr algn="l">
              <a:lnSpc>
                <a:spcPct val="150000"/>
              </a:lnSpc>
              <a:spcAft>
                <a:spcPts val="700"/>
              </a:spcAft>
            </a:pP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✓  Minimal sensing — the path consumes only rotor speeds and odometry; no attach/drop notification enters it.</a:t>
            </a:r>
          </a:p>
          <a:p>
            <a:pPr algn="l">
              <a:lnSpc>
                <a:spcPct val="150000"/>
              </a:lnSpc>
              <a:spcAft>
                <a:spcPts val="700"/>
              </a:spcAft>
            </a:pP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✓  A first-moment interface that stays well defined as the payload vanishes.</a:t>
            </a:r>
          </a:p>
          <a:p>
            <a:pPr algn="l">
              <a:lnSpc>
                <a:spcPct val="150000"/>
              </a:lnSpc>
              <a:spcAft>
                <a:spcPts val="700"/>
              </a:spcAft>
            </a:pP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✓  Release semantics that clear the model only on persistent evidence, and brake to hover otherwise.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2300" y="2724912"/>
            <a:ext cx="4777740" cy="19659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700"/>
              </a:spcAft>
            </a:pPr>
            <a:r>
              <a:rPr sz="10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Next</a:t>
            </a:r>
          </a:p>
          <a:p>
            <a:pPr algn="l">
              <a:lnSpc>
                <a:spcPct val="150000"/>
              </a:lnSpc>
              <a:spcAft>
                <a:spcPts val="700"/>
              </a:spcAft>
            </a:pP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→  Hardware migration and bench calibration of k — the prerequisite named in §VII.</a:t>
            </a:r>
          </a:p>
          <a:p>
            <a:pPr algn="l">
              <a:lnSpc>
                <a:spcPct val="150000"/>
              </a:lnSpc>
              <a:spcAft>
                <a:spcPts val="700"/>
              </a:spcAft>
            </a:pP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→  Gate the release command on estimator health; make reference formation reliable.</a:t>
            </a:r>
          </a:p>
          <a:p>
            <a:pPr algn="l">
              <a:lnSpc>
                <a:spcPct val="150000"/>
              </a:lnSpc>
              <a:spcAft>
                <a:spcPts val="700"/>
              </a:spcAft>
            </a:pP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→  Close the missing baselines: fixed-parameter NMPC, a CUSUM detector, L1 with the final estimator.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83080" y="4828031"/>
            <a:ext cx="9966960" cy="1444752"/>
          </a:xfrm>
          <a:prstGeom prst="rect">
            <a:avLst/>
          </a:prstGeom>
          <a:solidFill>
            <a:srgbClr val="E8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1783080" y="4828031"/>
            <a:ext cx="32004" cy="1444752"/>
          </a:xfrm>
          <a:prstGeom prst="rect">
            <a:avLst/>
          </a:prstGeom>
          <a:solidFill>
            <a:srgbClr val="0A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965960" y="4946903"/>
            <a:ext cx="9619488" cy="122529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On AI assistance — worth stating up front:</a:t>
            </a: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 this project used AI assistance for code generation, refactoring, test coverage and documentation; the experiment design, the choices between criteria, and the conclusions are mine.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I distinguish three kinds of statement throughout: </a:t>
            </a:r>
            <a:r>
              <a:rPr sz="10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confirmed by code and tests</a:t>
            </a: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, </a:t>
            </a:r>
            <a:r>
              <a:rPr sz="10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true in simulation only</a:t>
            </a: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, and </a:t>
            </a:r>
            <a:r>
              <a:rPr sz="1000" b="1" i="0">
                <a:solidFill>
                  <a:srgbClr val="101C24"/>
                </a:solidFill>
                <a:latin typeface="Segoe UI"/>
                <a:ea typeface="Segoe UI"/>
                <a:cs typeface="Segoe UI"/>
              </a:rPr>
              <a:t>still to be verified</a:t>
            </a:r>
            <a:r>
              <a:rPr sz="1000" b="0" i="0">
                <a:solidFill>
                  <a:srgbClr val="5C6B77"/>
                </a:solidFill>
                <a:latin typeface="Segoe UI"/>
                <a:ea typeface="Segoe UI"/>
                <a:cs typeface="Segoe UI"/>
              </a:rPr>
              <a:t> — for instance, the Chinese README still says the MHE is diagnostic-only, while the estimate has long been inside the NMPC loop. I found that by reading the code, not the docs.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83080" y="6428232"/>
            <a:ext cx="9966960" cy="7315"/>
          </a:xfrm>
          <a:prstGeom prst="rect">
            <a:avLst/>
          </a:prstGeom>
          <a:solidFill>
            <a:srgbClr val="D2D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783080" y="6492240"/>
            <a:ext cx="996696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900" b="0" i="0">
                <a:solidFill>
                  <a:srgbClr val="8B9AA4"/>
                </a:solidFill>
                <a:latin typeface="Consolas"/>
                <a:ea typeface="Consolas"/>
                <a:cs typeface="Consolas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